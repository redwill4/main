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Licensed (RN/LPN)</c:v>
                </c:pt>
              </c:strCache>
            </c:strRef>
          </c:tx>
          <c:spPr>
            <a:solidFill>
              <a:srgbClr val="1F5B4E"/>
            </a:solidFill>
            <a:effectLst/>
          </c:spPr>
          <c:invertIfNegative val="0"/>
          <c:dLbls>
            <c:numFmt formatCode="#,##0" sourceLinked="0"/>
            <c:txPr>
              <a:bodyPr/>
              <a:lstStyle/>
              <a:p>
                <a:pPr>
                  <a:defRPr b="1"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EPAR</c:v>
                  </c:pt>
                  <c:pt idx="1">
                    <c:v>Littleton</c:v>
                  </c:pt>
                  <c:pt idx="2">
                    <c:v>Julia Temple</c:v>
                  </c:pt>
                </c:lvl>
              </c:multiLvlStrCache>
            </c:multiLvlStrRef>
          </c:cat>
          <c:val>
            <c:numRef>
              <c:f>Sheet1!$B$2:$B$4</c:f>
              <c:numCache>
                <c:formatCode>General</c:formatCode>
                <c:ptCount val="3"/>
                <c:pt idx="0">
                  <c:v>0</c:v>
                </c:pt>
                <c:pt idx="1">
                  <c:v>1</c:v>
                </c:pt>
                <c:pt idx="2">
                  <c:v>3</c:v>
                </c:pt>
              </c:numCache>
            </c:numRef>
          </c:val>
        </c:ser>
        <c:ser>
          <c:idx val="1"/>
          <c:order val="1"/>
          <c:tx>
            <c:strRef>
              <c:f>Sheet1!$C$1</c:f>
              <c:strCache>
                <c:ptCount val="1"/>
                <c:pt idx="0">
                  <c:v>CNA</c:v>
                </c:pt>
              </c:strCache>
            </c:strRef>
          </c:tx>
          <c:spPr>
            <a:solidFill>
              <a:srgbClr val="6BB9A2"/>
            </a:solidFill>
            <a:effectLst/>
          </c:spPr>
          <c:invertIfNegative val="0"/>
          <c:dLbls>
            <c:numFmt formatCode="#,##0" sourceLinked="0"/>
            <c:txPr>
              <a:bodyPr/>
              <a:lstStyle/>
              <a:p>
                <a:pPr>
                  <a:defRPr b="1"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EPAR</c:v>
                  </c:pt>
                  <c:pt idx="1">
                    <c:v>Littleton</c:v>
                  </c:pt>
                  <c:pt idx="2">
                    <c:v>Julia Temple</c:v>
                  </c:pt>
                </c:lvl>
              </c:multiLvlStrCache>
            </c:multiLvlStrRef>
          </c:cat>
          <c:val>
            <c:numRef>
              <c:f>Sheet1!$C$2:$C$4</c:f>
              <c:numCache>
                <c:formatCode>General</c:formatCode>
                <c:ptCount val="3"/>
                <c:pt idx="0">
                  <c:v>0</c:v>
                </c:pt>
                <c:pt idx="1">
                  <c:v>5</c:v>
                </c:pt>
                <c:pt idx="2">
                  <c:v>5</c:v>
                </c:pt>
              </c:numCache>
            </c:numRef>
          </c:val>
        </c:ser>
        <c:dLbls>
          <c:numFmt formatCode="#,##0" sourceLinked="0"/>
          <c:txPr>
            <a:bodyPr/>
            <a:lstStyle/>
            <a:p>
              <a:pPr>
                <a:defRPr b="1"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211D"/>
                </a:solidFill>
                <a:latin typeface="Calibri"/>
              </a:defRPr>
            </a:pPr>
            <a:endParaRPr lang="en-US"/>
          </a:p>
        </c:txPr>
        <c:crossAx val="2094734552"/>
        <c:crosses val="autoZero"/>
        <c:auto val="1"/>
        <c:lblAlgn val="ctr"/>
        <c:noMultiLvlLbl val="1"/>
      </c:catAx>
      <c:valAx>
        <c:axId val="2094734552"/>
        <c:scaling>
          <c:orientation val="minMax"/>
          <c:max val="9"/>
        </c:scaling>
        <c:delete val="0"/>
        <c:axPos val="b"/>
        <c:majorGridlines>
          <c:spPr>
            <a:ln w="6350" cap="flat">
              <a:solidFill>
                <a:srgbClr val="DDE3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E746D"/>
                </a:solidFill>
                <a:latin typeface="Calibri"/>
              </a:defRPr>
            </a:pPr>
            <a:endParaRPr lang="en-US"/>
          </a:p>
        </c:txPr>
        <c:crossAx val="2094734554"/>
        <c:crosses val="autoZero"/>
        <c:crossBetween val="between"/>
      </c:valAx>
      <c:spPr>
        <a:solidFill>
          <a:srgbClr val="EEF1EF"/>
        </a:solid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solidFill>
      <a:srgbClr val="EEF1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Actual</c:v>
                </c:pt>
              </c:strCache>
            </c:strRef>
          </c:tx>
          <c:spPr>
            <a:solidFill>
              <a:srgbClr val="1F5B4E"/>
            </a:solidFill>
            <a:effectLst/>
          </c:spPr>
          <c:invertIfNegative val="0"/>
          <c:dLbls>
            <c:numFmt formatCode="#,##0" sourceLinked="0"/>
            <c:txPr>
              <a:bodyPr/>
              <a:lstStyle/>
              <a:p>
                <a:pPr>
                  <a:defRPr b="0" i="0" strike="noStrike" sz="900" u="none">
                    <a:solidFill>
                      <a:srgbClr val="3D423C"/>
                    </a:solidFill>
                    <a:latin typeface="Calibri"/>
                  </a:defRPr>
                </a:pPr>
              </a:p>
            </c:txPr>
            <c:dLblPos val="outEnd"/>
            <c:showLegendKey val="0"/>
            <c:showVal val="1"/>
            <c:showCatName val="0"/>
            <c:showSerName val="0"/>
            <c:showPercent val="0"/>
            <c:showBubbleSize val="0"/>
            <c:showLeaderLines val="0"/>
          </c:dLbls>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95</c:v>
                </c:pt>
                <c:pt idx="1">
                  <c:v>85</c:v>
                </c:pt>
                <c:pt idx="2">
                  <c:v>109</c:v>
                </c:pt>
                <c:pt idx="3">
                  <c:v>103</c:v>
                </c:pt>
                <c:pt idx="4">
                  <c:v>94</c:v>
                </c:pt>
                <c:pt idx="5">
                  <c:v>78</c:v>
                </c:pt>
              </c:numCache>
            </c:numRef>
          </c:val>
        </c:ser>
        <c:dLbls>
          <c:numFmt formatCode="#,##0" sourceLinked="0"/>
          <c:txPr>
            <a:bodyPr/>
            <a:lstStyle/>
            <a:p>
              <a:pPr>
                <a:defRPr b="0" i="0" strike="noStrike" sz="900" u="none">
                  <a:solidFill>
                    <a:srgbClr val="3D423C"/>
                  </a:solidFill>
                  <a:latin typeface="Calibri"/>
                </a:defRPr>
              </a:pPr>
            </a:p>
          </c:txPr>
          <c:dLblPos val="outEnd"/>
          <c:showLegendKey val="0"/>
          <c:showVal val="1"/>
          <c:showCatName val="0"/>
          <c:showSerName val="0"/>
          <c:showPercent val="0"/>
          <c:showBubbleSize val="0"/>
          <c:showLeaderLines val="0"/>
        </c:dLbls>
        <c:gapWidth val="150"/>
        <c:overlap val="0"/>
        <c:axId val="2094734554"/>
        <c:axId val="2094734552"/>
      </c:barChart>
      <c:lineChart>
        <c:varyColors val="0"/>
        <c:ser>
          <c:idx val="1"/>
          <c:order val="1"/>
          <c:tx>
            <c:strRef>
              <c:f>Sheet1!$C$1</c:f>
              <c:strCache>
                <c:ptCount val="1"/>
                <c:pt idx="0">
                  <c:v>Target 100%</c:v>
                </c:pt>
              </c:strCache>
            </c:strRef>
          </c:tx>
          <c:spPr>
            <a:solidFill>
              <a:srgbClr val="A84A22"/>
            </a:solidFill>
            <a:ln w="25400" cap="flat">
              <a:solidFill>
                <a:srgbClr val="A84A22"/>
              </a:solidFill>
              <a:prstDash val="dash"/>
              <a:round/>
            </a:ln>
            <a:effectLst/>
          </c:spPr>
          <c:invertIfNegative val="0"/>
          <c:dLbls>
            <c:numFmt formatCode="#,##0" sourceLinked="0"/>
            <c:txPr>
              <a:bodyPr/>
              <a:lstStyle/>
              <a:p>
                <a:pPr>
                  <a:defRPr b="0" i="0" strike="noStrike" sz="900" u="none">
                    <a:solidFill>
                      <a:srgbClr val="3D423C"/>
                    </a:solidFill>
                    <a:latin typeface="Calibri"/>
                  </a:defRPr>
                </a:pPr>
              </a:p>
            </c:txPr>
            <c:dLblPos val="outEnd"/>
            <c:showLegendKey val="0"/>
            <c:showVal val="1"/>
            <c:showCatName val="0"/>
            <c:showSerName val="0"/>
            <c:showPercent val="0"/>
            <c:showBubbleSize val="0"/>
            <c:showLeaderLines val="0"/>
          </c:dLbls>
          <c:marker>
            <c:symbol val="none"/>
            <c:size val="6"/>
            <c:spPr>
              <a:solidFill>
                <a:srgbClr val="A84A22"/>
              </a:solidFill>
              <a:ln w="9525" cap="flat">
                <a:solidFill>
                  <a:srgbClr val="A84A22"/>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Sheet1!$C$2:$C$7</c:f>
              <c:numCache>
                <c:formatCode>General</c:formatCode>
                <c:ptCount val="6"/>
                <c:pt idx="0">
                  <c:v>100</c:v>
                </c:pt>
                <c:pt idx="1">
                  <c:v>100</c:v>
                </c:pt>
                <c:pt idx="2">
                  <c:v>100</c:v>
                </c:pt>
                <c:pt idx="3">
                  <c:v>100</c:v>
                </c:pt>
                <c:pt idx="4">
                  <c:v>100</c:v>
                </c:pt>
                <c:pt idx="5">
                  <c:v>100</c:v>
                </c:pt>
              </c:numCache>
            </c:numRef>
          </c:val>
          <c:smooth val="0"/>
        </c:ser>
        <c:dLbls>
          <c:numFmt formatCode="#,##0" sourceLinked="0"/>
          <c:txPr>
            <a:bodyPr/>
            <a:lstStyle/>
            <a:p>
              <a:pPr>
                <a:defRPr b="0" i="0" strike="noStrike" sz="900" u="none">
                  <a:solidFill>
                    <a:srgbClr val="3D423C"/>
                  </a:solidFill>
                  <a:latin typeface="Calibri"/>
                </a:defRPr>
              </a:pPr>
            </a:p>
          </c:txPr>
          <c:dLblPos val="outEnd"/>
          <c:showLegendKey val="0"/>
          <c:showVal val="1"/>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11D"/>
                </a:solidFill>
                <a:latin typeface="Calibri"/>
              </a:defRPr>
            </a:pPr>
            <a:endParaRPr lang="en-US"/>
          </a:p>
        </c:txPr>
        <c:crossAx val="2094734552"/>
        <c:crosses val="autoZero"/>
        <c:auto val="1"/>
        <c:lblAlgn val="ctr"/>
        <c:noMultiLvlLbl val="1"/>
      </c:catAx>
      <c:valAx>
        <c:axId val="2094734552"/>
        <c:scaling>
          <c:orientation val="minMax"/>
          <c:max val="120"/>
          <c:min val="60"/>
        </c:scaling>
        <c:delete val="0"/>
        <c:axPos val="l"/>
        <c:majorGridlines>
          <c:spPr>
            <a:ln w="6350" cap="flat">
              <a:solidFill>
                <a:srgbClr val="DDE3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746D"/>
                </a:solidFill>
                <a:latin typeface="Calibri"/>
              </a:defRPr>
            </a:pPr>
            <a:endParaRPr lang="en-US"/>
          </a:p>
        </c:txPr>
        <c:crossAx val="2094734554"/>
        <c:crosses val="autoZero"/>
        <c:crossBetween val="between"/>
      </c:valAx>
      <c:spPr>
        <a:solidFill>
          <a:srgbClr val="EEF1EF"/>
        </a:solidFill>
        <a:ln>
          <a:noFill/>
        </a:ln>
        <a:effectLst/>
      </c:spPr>
    </c:plotArea>
    <c:plotVisOnly val="1"/>
    <c:dispBlanksAs val="span"/>
  </c:chart>
  <c:spPr>
    <a:solidFill>
      <a:srgbClr val="EEF1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Total census</c:v>
                </c:pt>
              </c:strCache>
            </c:strRef>
          </c:tx>
          <c:spPr>
            <a:solidFill>
              <a:srgbClr val="1F5B4E"/>
            </a:solidFill>
            <a:ln w="38100" cap="flat">
              <a:solidFill>
                <a:srgbClr val="1F5B4E"/>
              </a:solidFill>
              <a:prstDash val="solid"/>
              <a:round/>
            </a:ln>
            <a:effectLst/>
          </c:spPr>
          <c:invertIfNegative val="0"/>
          <c:dLbls>
            <c:numFmt formatCode="#,##0" sourceLinked="0"/>
            <c:txPr>
              <a:bodyPr/>
              <a:lstStyle/>
              <a:p>
                <a:pPr>
                  <a:defRPr b="0" i="0" strike="noStrike" sz="900" u="none">
                    <a:solidFill>
                      <a:srgbClr val="3D423C"/>
                    </a:solidFill>
                    <a:latin typeface="Calibri"/>
                  </a:defRPr>
                </a:pPr>
              </a:p>
            </c:txPr>
            <c:dLblPos val="t"/>
            <c:showLegendKey val="0"/>
            <c:showVal val="1"/>
            <c:showCatName val="0"/>
            <c:showSerName val="0"/>
            <c:showPercent val="0"/>
            <c:showBubbleSize val="0"/>
            <c:showLeaderLines val="0"/>
          </c:dLbls>
          <c:marker>
            <c:symbol val="circle"/>
            <c:size val="7"/>
            <c:spPr>
              <a:solidFill>
                <a:srgbClr val="1F5B4E"/>
              </a:solidFill>
              <a:ln w="9525" cap="flat">
                <a:solidFill>
                  <a:srgbClr val="1F5B4E"/>
                </a:solidFill>
                <a:prstDash val="solid"/>
                <a:round/>
              </a:ln>
              <a:effectLst/>
            </c:spPr>
          </c:marker>
          <c:cat>
            <c:multiLvlStrRef>
              <c:f>Sheet1!$A$2:$A$6</c:f>
              <c:multiLvlStrCache>
                <c:ptCount val="5"/>
                <c:lvl>
                  <c:pt idx="0">
                    <c:v>Jul (now)</c:v>
                  </c:pt>
                  <c:pt idx="1">
                    <c:v>Aug</c:v>
                  </c:pt>
                  <c:pt idx="2">
                    <c:v>Sep</c:v>
                  </c:pt>
                  <c:pt idx="3">
                    <c:v>Oct</c:v>
                  </c:pt>
                  <c:pt idx="4">
                    <c:v>Nov</c:v>
                  </c:pt>
                </c:lvl>
              </c:multiLvlStrCache>
            </c:multiLvlStrRef>
          </c:cat>
          <c:val>
            <c:numRef>
              <c:f>Sheet1!$B$2:$B$6</c:f>
              <c:numCache>
                <c:formatCode>General</c:formatCode>
                <c:ptCount val="5"/>
                <c:pt idx="0">
                  <c:v>102</c:v>
                </c:pt>
                <c:pt idx="1">
                  <c:v>107</c:v>
                </c:pt>
                <c:pt idx="2">
                  <c:v>112</c:v>
                </c:pt>
                <c:pt idx="3">
                  <c:v>118</c:v>
                </c:pt>
                <c:pt idx="4">
                  <c:v>120</c:v>
                </c:pt>
              </c:numCache>
            </c:numRef>
          </c:val>
          <c:smooth val="0"/>
        </c:ser>
        <c:ser>
          <c:idx val="1"/>
          <c:order val="1"/>
          <c:tx>
            <c:strRef>
              <c:f>Sheet1!$C$1</c:f>
              <c:strCache>
                <c:ptCount val="1"/>
                <c:pt idx="0">
                  <c:v>Skilled</c:v>
                </c:pt>
              </c:strCache>
            </c:strRef>
          </c:tx>
          <c:spPr>
            <a:solidFill>
              <a:srgbClr val="A84A22"/>
            </a:solidFill>
            <a:ln w="38100" cap="flat">
              <a:solidFill>
                <a:srgbClr val="A84A22"/>
              </a:solidFill>
              <a:prstDash val="solid"/>
              <a:round/>
            </a:ln>
            <a:effectLst/>
          </c:spPr>
          <c:invertIfNegative val="0"/>
          <c:dLbls>
            <c:numFmt formatCode="#,##0" sourceLinked="0"/>
            <c:txPr>
              <a:bodyPr/>
              <a:lstStyle/>
              <a:p>
                <a:pPr>
                  <a:defRPr b="0" i="0" strike="noStrike" sz="900" u="none">
                    <a:solidFill>
                      <a:srgbClr val="3D423C"/>
                    </a:solidFill>
                    <a:latin typeface="Calibri"/>
                  </a:defRPr>
                </a:pPr>
              </a:p>
            </c:txPr>
            <c:dLblPos val="t"/>
            <c:showLegendKey val="0"/>
            <c:showVal val="1"/>
            <c:showCatName val="0"/>
            <c:showSerName val="0"/>
            <c:showPercent val="0"/>
            <c:showBubbleSize val="0"/>
            <c:showLeaderLines val="0"/>
          </c:dLbls>
          <c:marker>
            <c:symbol val="circle"/>
            <c:size val="7"/>
            <c:spPr>
              <a:solidFill>
                <a:srgbClr val="A84A22"/>
              </a:solidFill>
              <a:ln w="9525" cap="flat">
                <a:solidFill>
                  <a:srgbClr val="A84A22"/>
                </a:solidFill>
                <a:prstDash val="solid"/>
                <a:round/>
              </a:ln>
              <a:effectLst/>
            </c:spPr>
          </c:marker>
          <c:cat>
            <c:multiLvlStrRef>
              <c:f>Sheet1!$A$2:$A$6</c:f>
              <c:multiLvlStrCache>
                <c:ptCount val="5"/>
                <c:lvl>
                  <c:pt idx="0">
                    <c:v>Jul (now)</c:v>
                  </c:pt>
                  <c:pt idx="1">
                    <c:v>Aug</c:v>
                  </c:pt>
                  <c:pt idx="2">
                    <c:v>Sep</c:v>
                  </c:pt>
                  <c:pt idx="3">
                    <c:v>Oct</c:v>
                  </c:pt>
                  <c:pt idx="4">
                    <c:v>Nov</c:v>
                  </c:pt>
                </c:lvl>
              </c:multiLvlStrCache>
            </c:multiLvlStrRef>
          </c:cat>
          <c:val>
            <c:numRef>
              <c:f>Sheet1!$C$2:$C$6</c:f>
              <c:numCache>
                <c:formatCode>General</c:formatCode>
                <c:ptCount val="5"/>
                <c:pt idx="0">
                  <c:v>16</c:v>
                </c:pt>
                <c:pt idx="1">
                  <c:v>19</c:v>
                </c:pt>
                <c:pt idx="2">
                  <c:v>21</c:v>
                </c:pt>
                <c:pt idx="3">
                  <c:v>24</c:v>
                </c:pt>
                <c:pt idx="4">
                  <c:v>25</c:v>
                </c:pt>
              </c:numCache>
            </c:numRef>
          </c:val>
          <c:smooth val="0"/>
        </c:ser>
        <c:dLbls>
          <c:numFmt formatCode="#,##0" sourceLinked="0"/>
          <c:txPr>
            <a:bodyPr/>
            <a:lstStyle/>
            <a:p>
              <a:pPr>
                <a:defRPr b="0" i="0" strike="noStrike" sz="900" u="none">
                  <a:solidFill>
                    <a:srgbClr val="3D423C"/>
                  </a:solidFill>
                  <a:latin typeface="Calibri"/>
                </a:defRPr>
              </a:pPr>
            </a:p>
          </c:txPr>
          <c:dLblPos val="t"/>
          <c:showLegendKey val="0"/>
          <c:showVal val="1"/>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E211D"/>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6350" cap="flat">
              <a:solidFill>
                <a:srgbClr val="DDE3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746D"/>
                </a:solidFill>
                <a:latin typeface="Calibri"/>
              </a:defRPr>
            </a:pPr>
            <a:endParaRPr lang="en-US"/>
          </a:p>
        </c:txPr>
        <c:crossAx val="2094734554"/>
        <c:crosses val="autoZero"/>
        <c:crossBetween val="between"/>
      </c:valAx>
      <c:spPr>
        <a:solidFill>
          <a:srgbClr val="EEF1EF"/>
        </a:solid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solidFill>
      <a:srgbClr val="EEF1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these three plans were written independently, but they are far more alike than different. The job today is to name the overlaps, decide what we standardize, and get the October building a system to inherit.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argument for banding together, and it is more specific than 'share best practices'. Each building has already built something the other two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administrator gets three minutes on their own plan. These are the numbers to open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blanks matter as much as the entries. Every gap here is covered by at least one peer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three rows are the transferable assets: EPAR's expense discipline, Littleton's culture machinery, Julia Temple's habit of dollarizing every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Cheapest win on the board. Three buildings are currently paying three times for the same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Medicaid Pending approval delay is a payer and state process problem. It carries more weight escalated three times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Littleton's turnover is the cluster's leading indicator, not Littleton's private problem. It is where the other two buildings are headed if nothing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the October building cheap to onboard: they inherit a running system instead of inventing a fourth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first. It is a twenty-minute conversation that unlocks the tracker, the roll-up and the October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EPAR's plan is the strongest on execution detail and the thinnest on people. Adding one workforce metric changes how the room reads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internal contradictions are quick fixes but a reviewer will find all of them. Worth ten minutes before this circulates.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A/R story as a diagnosis: annual bad debt 1.08%, last three months 2.05%, cause is Medicaid Pending volume and slow approvals — not collection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October opening is the deadline that makes standardization urgent rather than nice to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D34"/>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F5B4E">
              <a:alpha val="45000"/>
            </a:srgbClr>
          </a:solidFill>
          <a:ln w="12700">
            <a:solidFill>
              <a:srgbClr val="333333"/>
            </a:solidFill>
            <a:prstDash val="solid"/>
          </a:ln>
        </p:spPr>
      </p:sp>
      <p:sp>
        <p:nvSpPr>
          <p:cNvPr id="3" name="Shape 1"/>
          <p:cNvSpPr/>
          <p:nvPr/>
        </p:nvSpPr>
        <p:spPr>
          <a:xfrm>
            <a:off x="10881360" y="4206240"/>
            <a:ext cx="2926080" cy="2926080"/>
          </a:xfrm>
          <a:prstGeom prst="ellipse">
            <a:avLst/>
          </a:prstGeom>
          <a:solidFill>
            <a:srgbClr val="6BB9A2">
              <a:alpha val="18000"/>
            </a:srgbClr>
          </a:solidFill>
          <a:ln w="12700">
            <a:solidFill>
              <a:srgbClr val="333333"/>
            </a:solidFill>
            <a:prstDash val="solid"/>
          </a:ln>
        </p:spPr>
      </p:sp>
      <p:sp>
        <p:nvSpPr>
          <p:cNvPr id="4" name="Text 2"/>
          <p:cNvSpPr/>
          <p:nvPr/>
        </p:nvSpPr>
        <p:spPr>
          <a:xfrm>
            <a:off x="594360" y="1993392"/>
            <a:ext cx="8229600" cy="274320"/>
          </a:xfrm>
          <a:prstGeom prst="rect">
            <a:avLst/>
          </a:prstGeom>
          <a:noFill/>
          <a:ln/>
        </p:spPr>
        <p:txBody>
          <a:bodyPr wrap="square" lIns="0" tIns="0" rIns="0" bIns="0" rtlCol="0" anchor="ctr"/>
          <a:lstStyle/>
          <a:p>
            <a:pPr indent="0" marL="0">
              <a:buNone/>
            </a:pPr>
            <a:r>
              <a:rPr lang="en-US" sz="1250" b="1" spc="300" kern="0" dirty="0">
                <a:solidFill>
                  <a:srgbClr val="6BB9A2"/>
                </a:solidFill>
                <a:latin typeface="Calibri" pitchFamily="34" charset="0"/>
                <a:ea typeface="Calibri" pitchFamily="34" charset="-122"/>
                <a:cs typeface="Calibri" pitchFamily="34" charset="-120"/>
              </a:rPr>
              <a:t>100-DAY PLANS  ·  EXECUTIVE SUMMARY</a:t>
            </a:r>
            <a:endParaRPr lang="en-US" sz="1250" dirty="0"/>
          </a:p>
        </p:txBody>
      </p:sp>
      <p:sp>
        <p:nvSpPr>
          <p:cNvPr id="5" name="Text 3"/>
          <p:cNvSpPr/>
          <p:nvPr/>
        </p:nvSpPr>
        <p:spPr>
          <a:xfrm>
            <a:off x="594360" y="2359152"/>
            <a:ext cx="8412480" cy="1828800"/>
          </a:xfrm>
          <a:prstGeom prst="rect">
            <a:avLst/>
          </a:prstGeom>
          <a:noFill/>
          <a:ln/>
        </p:spPr>
        <p:txBody>
          <a:bodyPr wrap="square" lIns="0" tIns="0" rIns="0" bIns="0" rtlCol="0" anchor="ctr"/>
          <a:lstStyle/>
          <a:p>
            <a:pPr indent="0" marL="0">
              <a:lnSpc>
                <a:spcPts val="5200"/>
              </a:lnSpc>
              <a:buNone/>
            </a:pPr>
            <a:r>
              <a:rPr lang="en-US" sz="5000" b="1" dirty="0">
                <a:solidFill>
                  <a:srgbClr val="FFFFFF"/>
                </a:solidFill>
                <a:latin typeface="Cambria" pitchFamily="34" charset="0"/>
                <a:ea typeface="Cambria" pitchFamily="34" charset="-122"/>
                <a:cs typeface="Cambria" pitchFamily="34" charset="-120"/>
              </a:rPr>
              <a:t>Three Plans,</a:t>
            </a:r>
            <a:endParaRPr lang="en-US" sz="5000" dirty="0"/>
          </a:p>
          <a:p>
            <a:pPr indent="0" marL="0">
              <a:lnSpc>
                <a:spcPts val="5200"/>
              </a:lnSpc>
              <a:buNone/>
            </a:pPr>
            <a:r>
              <a:rPr lang="en-US" sz="5000" b="1" dirty="0">
                <a:solidFill>
                  <a:srgbClr val="FFFFFF"/>
                </a:solidFill>
                <a:latin typeface="Cambria" pitchFamily="34" charset="0"/>
                <a:ea typeface="Cambria" pitchFamily="34" charset="-122"/>
                <a:cs typeface="Cambria" pitchFamily="34" charset="-120"/>
              </a:rPr>
              <a:t>One Cluster</a:t>
            </a:r>
            <a:endParaRPr lang="en-US" sz="5000" dirty="0"/>
          </a:p>
        </p:txBody>
      </p:sp>
      <p:sp>
        <p:nvSpPr>
          <p:cNvPr id="6" name="Text 4"/>
          <p:cNvSpPr/>
          <p:nvPr/>
        </p:nvSpPr>
        <p:spPr>
          <a:xfrm>
            <a:off x="594360" y="4315968"/>
            <a:ext cx="7589520" cy="914400"/>
          </a:xfrm>
          <a:prstGeom prst="rect">
            <a:avLst/>
          </a:prstGeom>
          <a:noFill/>
          <a:ln/>
        </p:spPr>
        <p:txBody>
          <a:bodyPr wrap="square" lIns="0" tIns="0" rIns="0" bIns="0" rtlCol="0" anchor="ctr"/>
          <a:lstStyle/>
          <a:p>
            <a:pPr indent="0" marL="0">
              <a:lnSpc>
                <a:spcPts val="2200"/>
              </a:lnSpc>
              <a:buNone/>
            </a:pPr>
            <a:r>
              <a:rPr lang="en-US" sz="1450" dirty="0">
                <a:solidFill>
                  <a:srgbClr val="C9D6D0"/>
                </a:solidFill>
                <a:latin typeface="Calibri" pitchFamily="34" charset="0"/>
                <a:ea typeface="Calibri" pitchFamily="34" charset="-122"/>
                <a:cs typeface="Calibri" pitchFamily="34" charset="-120"/>
              </a:rPr>
              <a:t>EPAR, Littleton and Julia Temple wrote their plans separately. Read together, they chase four of the same things in three different vocabularies — and each building is strongest exactly where another is thinnest.</a:t>
            </a:r>
            <a:endParaRPr lang="en-US" sz="1450" dirty="0"/>
          </a:p>
        </p:txBody>
      </p:sp>
      <p:sp>
        <p:nvSpPr>
          <p:cNvPr id="7" name="Text 5"/>
          <p:cNvSpPr/>
          <p:nvPr/>
        </p:nvSpPr>
        <p:spPr>
          <a:xfrm>
            <a:off x="594360" y="6053328"/>
            <a:ext cx="11002975" cy="274320"/>
          </a:xfrm>
          <a:prstGeom prst="rect">
            <a:avLst/>
          </a:prstGeom>
          <a:noFill/>
          <a:ln/>
        </p:spPr>
        <p:txBody>
          <a:bodyPr wrap="square" lIns="0" tIns="0" rIns="0" bIns="0" rtlCol="0" anchor="ctr"/>
          <a:lstStyle/>
          <a:p>
            <a:pPr indent="0" marL="0">
              <a:buNone/>
            </a:pPr>
            <a:r>
              <a:rPr lang="en-US" sz="1000" spc="120" kern="0" dirty="0">
                <a:solidFill>
                  <a:srgbClr val="8FA79D"/>
                </a:solidFill>
                <a:latin typeface="Calibri" pitchFamily="34" charset="0"/>
                <a:ea typeface="Calibri" pitchFamily="34" charset="-122"/>
                <a:cs typeface="Calibri" pitchFamily="34" charset="-120"/>
              </a:rPr>
              <a:t>EPAR  ·  LITTLETON  ·  JULIA TEMPLE          FOURTH BUILDING: OCTOBER 2026          PLAN WINDOW: AUG–NOV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1002975"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THE SHORT VERSION</a:t>
            </a:r>
            <a:endParaRPr lang="en-US" sz="1100" dirty="0"/>
          </a:p>
        </p:txBody>
      </p:sp>
      <p:sp>
        <p:nvSpPr>
          <p:cNvPr id="3" name="Text 1"/>
          <p:cNvSpPr/>
          <p:nvPr/>
        </p:nvSpPr>
        <p:spPr>
          <a:xfrm>
            <a:off x="594360" y="658368"/>
            <a:ext cx="11002975" cy="566928"/>
          </a:xfrm>
          <a:prstGeom prst="rect">
            <a:avLst/>
          </a:prstGeom>
          <a:noFill/>
          <a:ln/>
        </p:spPr>
        <p:txBody>
          <a:bodyPr wrap="square" lIns="0" tIns="0" rIns="0" bIns="0" rtlCol="0" anchor="t"/>
          <a:lstStyle/>
          <a:p>
            <a:pPr indent="0" marL="0">
              <a:buNone/>
            </a:pPr>
            <a:r>
              <a:rPr lang="en-US" sz="3100" b="1" dirty="0">
                <a:solidFill>
                  <a:srgbClr val="1E211D"/>
                </a:solidFill>
                <a:latin typeface="Cambria" pitchFamily="34" charset="0"/>
                <a:ea typeface="Cambria" pitchFamily="34" charset="-122"/>
                <a:cs typeface="Cambria" pitchFamily="34" charset="-120"/>
              </a:rPr>
              <a:t>The plans overlap more than they differ</a:t>
            </a:r>
            <a:endParaRPr lang="en-US" sz="3100" dirty="0"/>
          </a:p>
        </p:txBody>
      </p:sp>
      <p:sp>
        <p:nvSpPr>
          <p:cNvPr id="4" name="Shape 2"/>
          <p:cNvSpPr/>
          <p:nvPr/>
        </p:nvSpPr>
        <p:spPr>
          <a:xfrm>
            <a:off x="594360" y="1572768"/>
            <a:ext cx="3515258" cy="2514600"/>
          </a:xfrm>
          <a:prstGeom prst="roundRect">
            <a:avLst>
              <a:gd name="adj" fmla="val 2182"/>
            </a:avLst>
          </a:prstGeom>
          <a:solidFill>
            <a:srgbClr val="EEF1EF"/>
          </a:solidFill>
          <a:ln w="12700">
            <a:solidFill>
              <a:srgbClr val="EEF1EF"/>
            </a:solidFill>
            <a:prstDash val="solid"/>
          </a:ln>
        </p:spPr>
      </p:sp>
      <p:sp>
        <p:nvSpPr>
          <p:cNvPr id="5" name="Text 3"/>
          <p:cNvSpPr/>
          <p:nvPr/>
        </p:nvSpPr>
        <p:spPr>
          <a:xfrm>
            <a:off x="886968" y="1783080"/>
            <a:ext cx="2930042" cy="658368"/>
          </a:xfrm>
          <a:prstGeom prst="rect">
            <a:avLst/>
          </a:prstGeom>
          <a:noFill/>
          <a:ln/>
        </p:spPr>
        <p:txBody>
          <a:bodyPr wrap="square" lIns="0" tIns="0" rIns="0" bIns="0" rtlCol="0" anchor="ctr"/>
          <a:lstStyle/>
          <a:p>
            <a:pPr indent="0" marL="0">
              <a:buNone/>
            </a:pPr>
            <a:r>
              <a:rPr lang="en-US" sz="4000" b="1" dirty="0">
                <a:solidFill>
                  <a:srgbClr val="1F5B4E"/>
                </a:solidFill>
                <a:latin typeface="Cambria" pitchFamily="34" charset="0"/>
                <a:ea typeface="Cambria" pitchFamily="34" charset="-122"/>
                <a:cs typeface="Cambria" pitchFamily="34" charset="-120"/>
              </a:rPr>
              <a:t>3 of 3</a:t>
            </a:r>
            <a:endParaRPr lang="en-US" sz="4000" dirty="0"/>
          </a:p>
        </p:txBody>
      </p:sp>
      <p:sp>
        <p:nvSpPr>
          <p:cNvPr id="6" name="Text 4"/>
          <p:cNvSpPr/>
          <p:nvPr/>
        </p:nvSpPr>
        <p:spPr>
          <a:xfrm>
            <a:off x="886968" y="2450592"/>
            <a:ext cx="2930042" cy="457200"/>
          </a:xfrm>
          <a:prstGeom prst="rect">
            <a:avLst/>
          </a:prstGeom>
          <a:noFill/>
          <a:ln/>
        </p:spPr>
        <p:txBody>
          <a:bodyPr wrap="square" lIns="0" tIns="0" rIns="0" bIns="0" rtlCol="0" anchor="ctr"/>
          <a:lstStyle/>
          <a:p>
            <a:pPr indent="0" marL="0">
              <a:buNone/>
            </a:pPr>
            <a:r>
              <a:rPr lang="en-US" sz="1500" b="1" dirty="0">
                <a:solidFill>
                  <a:srgbClr val="1E211D"/>
                </a:solidFill>
                <a:latin typeface="Calibri" pitchFamily="34" charset="0"/>
                <a:ea typeface="Calibri" pitchFamily="34" charset="-122"/>
                <a:cs typeface="Calibri" pitchFamily="34" charset="-120"/>
              </a:rPr>
              <a:t>name 100% cash collections</a:t>
            </a:r>
            <a:endParaRPr lang="en-US" sz="1500" dirty="0"/>
          </a:p>
        </p:txBody>
      </p:sp>
      <p:sp>
        <p:nvSpPr>
          <p:cNvPr id="7" name="Text 5"/>
          <p:cNvSpPr/>
          <p:nvPr/>
        </p:nvSpPr>
        <p:spPr>
          <a:xfrm>
            <a:off x="886968" y="2926080"/>
            <a:ext cx="2930042" cy="1005840"/>
          </a:xfrm>
          <a:prstGeom prst="rect">
            <a:avLst/>
          </a:prstGeom>
          <a:noFill/>
          <a:ln/>
        </p:spPr>
        <p:txBody>
          <a:bodyPr wrap="square" lIns="0" tIns="0" rIns="0" bIns="0" rtlCol="0" anchor="ctr"/>
          <a:lstStyle/>
          <a:p>
            <a:pPr indent="0" marL="0">
              <a:lnSpc>
                <a:spcPts val="1700"/>
              </a:lnSpc>
              <a:buNone/>
            </a:pPr>
            <a:r>
              <a:rPr lang="en-US" sz="1200" dirty="0">
                <a:solidFill>
                  <a:srgbClr val="3D423C"/>
                </a:solidFill>
                <a:latin typeface="Calibri" pitchFamily="34" charset="0"/>
                <a:ea typeface="Calibri" pitchFamily="34" charset="-122"/>
                <a:cs typeface="Calibri" pitchFamily="34" charset="-120"/>
              </a:rPr>
              <a:t>Identical target. Three different underlying problems — volatility, Medicaid Pending, and bad debt exposure.</a:t>
            </a:r>
            <a:endParaRPr lang="en-US" sz="1200" dirty="0"/>
          </a:p>
        </p:txBody>
      </p:sp>
      <p:sp>
        <p:nvSpPr>
          <p:cNvPr id="8" name="Shape 6"/>
          <p:cNvSpPr/>
          <p:nvPr/>
        </p:nvSpPr>
        <p:spPr>
          <a:xfrm>
            <a:off x="4338218" y="1572768"/>
            <a:ext cx="3515258" cy="2514600"/>
          </a:xfrm>
          <a:prstGeom prst="roundRect">
            <a:avLst>
              <a:gd name="adj" fmla="val 2182"/>
            </a:avLst>
          </a:prstGeom>
          <a:solidFill>
            <a:srgbClr val="EEF1EF"/>
          </a:solidFill>
          <a:ln w="12700">
            <a:solidFill>
              <a:srgbClr val="EEF1EF"/>
            </a:solidFill>
            <a:prstDash val="solid"/>
          </a:ln>
        </p:spPr>
      </p:sp>
      <p:sp>
        <p:nvSpPr>
          <p:cNvPr id="9" name="Text 7"/>
          <p:cNvSpPr/>
          <p:nvPr/>
        </p:nvSpPr>
        <p:spPr>
          <a:xfrm>
            <a:off x="4630826" y="1783080"/>
            <a:ext cx="2930042" cy="658368"/>
          </a:xfrm>
          <a:prstGeom prst="rect">
            <a:avLst/>
          </a:prstGeom>
          <a:noFill/>
          <a:ln/>
        </p:spPr>
        <p:txBody>
          <a:bodyPr wrap="square" lIns="0" tIns="0" rIns="0" bIns="0" rtlCol="0" anchor="ctr"/>
          <a:lstStyle/>
          <a:p>
            <a:pPr indent="0" marL="0">
              <a:buNone/>
            </a:pPr>
            <a:r>
              <a:rPr lang="en-US" sz="4000" b="1" dirty="0">
                <a:solidFill>
                  <a:srgbClr val="1F5B4E"/>
                </a:solidFill>
                <a:latin typeface="Cambria" pitchFamily="34" charset="0"/>
                <a:ea typeface="Cambria" pitchFamily="34" charset="-122"/>
                <a:cs typeface="Cambria" pitchFamily="34" charset="-120"/>
              </a:rPr>
              <a:t>3 of 3</a:t>
            </a:r>
            <a:endParaRPr lang="en-US" sz="4000" dirty="0"/>
          </a:p>
        </p:txBody>
      </p:sp>
      <p:sp>
        <p:nvSpPr>
          <p:cNvPr id="10" name="Text 8"/>
          <p:cNvSpPr/>
          <p:nvPr/>
        </p:nvSpPr>
        <p:spPr>
          <a:xfrm>
            <a:off x="4630826" y="2450592"/>
            <a:ext cx="2930042" cy="457200"/>
          </a:xfrm>
          <a:prstGeom prst="rect">
            <a:avLst/>
          </a:prstGeom>
          <a:noFill/>
          <a:ln/>
        </p:spPr>
        <p:txBody>
          <a:bodyPr wrap="square" lIns="0" tIns="0" rIns="0" bIns="0" rtlCol="0" anchor="ctr"/>
          <a:lstStyle/>
          <a:p>
            <a:pPr indent="0" marL="0">
              <a:buNone/>
            </a:pPr>
            <a:r>
              <a:rPr lang="en-US" sz="1500" b="1" dirty="0">
                <a:solidFill>
                  <a:srgbClr val="1E211D"/>
                </a:solidFill>
                <a:latin typeface="Calibri" pitchFamily="34" charset="0"/>
                <a:ea typeface="Calibri" pitchFamily="34" charset="-122"/>
                <a:cs typeface="Calibri" pitchFamily="34" charset="-120"/>
              </a:rPr>
              <a:t>are fighting labor cost</a:t>
            </a:r>
            <a:endParaRPr lang="en-US" sz="1500" dirty="0"/>
          </a:p>
        </p:txBody>
      </p:sp>
      <p:sp>
        <p:nvSpPr>
          <p:cNvPr id="11" name="Text 9"/>
          <p:cNvSpPr/>
          <p:nvPr/>
        </p:nvSpPr>
        <p:spPr>
          <a:xfrm>
            <a:off x="4630826" y="2926080"/>
            <a:ext cx="2930042" cy="1005840"/>
          </a:xfrm>
          <a:prstGeom prst="rect">
            <a:avLst/>
          </a:prstGeom>
          <a:noFill/>
          <a:ln/>
        </p:spPr>
        <p:txBody>
          <a:bodyPr wrap="square" lIns="0" tIns="0" rIns="0" bIns="0" rtlCol="0" anchor="ctr"/>
          <a:lstStyle/>
          <a:p>
            <a:pPr indent="0" marL="0">
              <a:lnSpc>
                <a:spcPts val="1700"/>
              </a:lnSpc>
              <a:buNone/>
            </a:pPr>
            <a:r>
              <a:rPr lang="en-US" sz="1200" dirty="0">
                <a:solidFill>
                  <a:srgbClr val="3D423C"/>
                </a:solidFill>
                <a:latin typeface="Calibri" pitchFamily="34" charset="0"/>
                <a:ea typeface="Calibri" pitchFamily="34" charset="-122"/>
                <a:cs typeface="Calibri" pitchFamily="34" charset="-120"/>
              </a:rPr>
              <a:t>Under three different names: overtime, missed lunches, agency. Two already set the same 10% overtime target.</a:t>
            </a:r>
            <a:endParaRPr lang="en-US" sz="1200" dirty="0"/>
          </a:p>
        </p:txBody>
      </p:sp>
      <p:sp>
        <p:nvSpPr>
          <p:cNvPr id="12" name="Shape 10"/>
          <p:cNvSpPr/>
          <p:nvPr/>
        </p:nvSpPr>
        <p:spPr>
          <a:xfrm>
            <a:off x="8082077" y="1572768"/>
            <a:ext cx="3515258" cy="2514600"/>
          </a:xfrm>
          <a:prstGeom prst="roundRect">
            <a:avLst>
              <a:gd name="adj" fmla="val 2182"/>
            </a:avLst>
          </a:prstGeom>
          <a:solidFill>
            <a:srgbClr val="EEF1EF"/>
          </a:solidFill>
          <a:ln w="12700">
            <a:solidFill>
              <a:srgbClr val="EEF1EF"/>
            </a:solidFill>
            <a:prstDash val="solid"/>
          </a:ln>
        </p:spPr>
      </p:sp>
      <p:sp>
        <p:nvSpPr>
          <p:cNvPr id="13" name="Text 11"/>
          <p:cNvSpPr/>
          <p:nvPr/>
        </p:nvSpPr>
        <p:spPr>
          <a:xfrm>
            <a:off x="8374685" y="1783080"/>
            <a:ext cx="2930042" cy="658368"/>
          </a:xfrm>
          <a:prstGeom prst="rect">
            <a:avLst/>
          </a:prstGeom>
          <a:noFill/>
          <a:ln/>
        </p:spPr>
        <p:txBody>
          <a:bodyPr wrap="square" lIns="0" tIns="0" rIns="0" bIns="0" rtlCol="0" anchor="ctr"/>
          <a:lstStyle/>
          <a:p>
            <a:pPr indent="0" marL="0">
              <a:buNone/>
            </a:pPr>
            <a:r>
              <a:rPr lang="en-US" sz="4000" b="1" dirty="0">
                <a:solidFill>
                  <a:srgbClr val="1F5B4E"/>
                </a:solidFill>
                <a:latin typeface="Cambria" pitchFamily="34" charset="0"/>
                <a:ea typeface="Cambria" pitchFamily="34" charset="-122"/>
                <a:cs typeface="Cambria" pitchFamily="34" charset="-120"/>
              </a:rPr>
              <a:t>3 of 3</a:t>
            </a:r>
            <a:endParaRPr lang="en-US" sz="4000" dirty="0"/>
          </a:p>
        </p:txBody>
      </p:sp>
      <p:sp>
        <p:nvSpPr>
          <p:cNvPr id="14" name="Text 12"/>
          <p:cNvSpPr/>
          <p:nvPr/>
        </p:nvSpPr>
        <p:spPr>
          <a:xfrm>
            <a:off x="8374685" y="2450592"/>
            <a:ext cx="2930042" cy="457200"/>
          </a:xfrm>
          <a:prstGeom prst="rect">
            <a:avLst/>
          </a:prstGeom>
          <a:noFill/>
          <a:ln/>
        </p:spPr>
        <p:txBody>
          <a:bodyPr wrap="square" lIns="0" tIns="0" rIns="0" bIns="0" rtlCol="0" anchor="ctr"/>
          <a:lstStyle/>
          <a:p>
            <a:pPr indent="0" marL="0">
              <a:buNone/>
            </a:pPr>
            <a:r>
              <a:rPr lang="en-US" sz="1500" b="1" dirty="0">
                <a:solidFill>
                  <a:srgbClr val="1E211D"/>
                </a:solidFill>
                <a:latin typeface="Calibri" pitchFamily="34" charset="0"/>
                <a:ea typeface="Calibri" pitchFamily="34" charset="-122"/>
                <a:cs typeface="Calibri" pitchFamily="34" charset="-120"/>
              </a:rPr>
              <a:t>built a welcome program</a:t>
            </a:r>
            <a:endParaRPr lang="en-US" sz="1500" dirty="0"/>
          </a:p>
        </p:txBody>
      </p:sp>
      <p:sp>
        <p:nvSpPr>
          <p:cNvPr id="15" name="Text 13"/>
          <p:cNvSpPr/>
          <p:nvPr/>
        </p:nvSpPr>
        <p:spPr>
          <a:xfrm>
            <a:off x="8374685" y="2926080"/>
            <a:ext cx="2930042" cy="1005840"/>
          </a:xfrm>
          <a:prstGeom prst="rect">
            <a:avLst/>
          </a:prstGeom>
          <a:noFill/>
          <a:ln/>
        </p:spPr>
        <p:txBody>
          <a:bodyPr wrap="square" lIns="0" tIns="0" rIns="0" bIns="0" rtlCol="0" anchor="ctr"/>
          <a:lstStyle/>
          <a:p>
            <a:pPr indent="0" marL="0">
              <a:lnSpc>
                <a:spcPts val="1700"/>
              </a:lnSpc>
              <a:buNone/>
            </a:pPr>
            <a:r>
              <a:rPr lang="en-US" sz="1200" dirty="0">
                <a:solidFill>
                  <a:srgbClr val="3D423C"/>
                </a:solidFill>
                <a:latin typeface="Calibri" pitchFamily="34" charset="0"/>
                <a:ea typeface="Calibri" pitchFamily="34" charset="-122"/>
                <a:cs typeface="Calibri" pitchFamily="34" charset="-120"/>
              </a:rPr>
              <a:t>Independently, at three levels of finish, on three separate budgets. Nothing about it is building-specific.</a:t>
            </a:r>
            <a:endParaRPr lang="en-US" sz="1200" dirty="0"/>
          </a:p>
        </p:txBody>
      </p:sp>
      <p:sp>
        <p:nvSpPr>
          <p:cNvPr id="16" name="Shape 14"/>
          <p:cNvSpPr/>
          <p:nvPr/>
        </p:nvSpPr>
        <p:spPr>
          <a:xfrm>
            <a:off x="594360" y="4315968"/>
            <a:ext cx="11002975" cy="1481328"/>
          </a:xfrm>
          <a:prstGeom prst="roundRect">
            <a:avLst>
              <a:gd name="adj" fmla="val 3704"/>
            </a:avLst>
          </a:prstGeom>
          <a:solidFill>
            <a:srgbClr val="143D34"/>
          </a:solidFill>
          <a:ln w="12700">
            <a:solidFill>
              <a:srgbClr val="143D34"/>
            </a:solidFill>
            <a:prstDash val="solid"/>
          </a:ln>
        </p:spPr>
      </p:sp>
      <p:sp>
        <p:nvSpPr>
          <p:cNvPr id="17" name="Text 15"/>
          <p:cNvSpPr/>
          <p:nvPr/>
        </p:nvSpPr>
        <p:spPr>
          <a:xfrm>
            <a:off x="1005840" y="4553712"/>
            <a:ext cx="10180015" cy="3840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Each strength is a gap in the other two.</a:t>
            </a:r>
            <a:endParaRPr lang="en-US" sz="2100" dirty="0"/>
          </a:p>
        </p:txBody>
      </p:sp>
      <p:sp>
        <p:nvSpPr>
          <p:cNvPr id="18" name="Text 16"/>
          <p:cNvSpPr/>
          <p:nvPr/>
        </p:nvSpPr>
        <p:spPr>
          <a:xfrm>
            <a:off x="1005840" y="4956048"/>
            <a:ext cx="10180015" cy="731520"/>
          </a:xfrm>
          <a:prstGeom prst="rect">
            <a:avLst/>
          </a:prstGeom>
          <a:noFill/>
          <a:ln/>
        </p:spPr>
        <p:txBody>
          <a:bodyPr wrap="square" lIns="0" tIns="0" rIns="0" bIns="0" rtlCol="0" anchor="ctr"/>
          <a:lstStyle/>
          <a:p>
            <a:pPr indent="0" marL="0">
              <a:lnSpc>
                <a:spcPts val="1900"/>
              </a:lnSpc>
              <a:buNone/>
            </a:pPr>
            <a:r>
              <a:rPr lang="en-US" sz="1300" dirty="0">
                <a:solidFill>
                  <a:srgbClr val="C9D6D0"/>
                </a:solidFill>
                <a:latin typeface="Calibri" pitchFamily="34" charset="0"/>
                <a:ea typeface="Calibri" pitchFamily="34" charset="-122"/>
                <a:cs typeface="Calibri" pitchFamily="34" charset="-120"/>
              </a:rPr>
              <a:t>Julia Temple is the only plan that shows its math — roughly $274K a month of identified upside. EPAR is the only plan changing cost structures rather than asking people to spend less. Littleton is the only plan treating people as a strategy, and the only one honest enough to print 61% turnover.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1002975"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THE THREE BUILDINGS</a:t>
            </a:r>
            <a:endParaRPr lang="en-US" sz="1100" dirty="0"/>
          </a:p>
        </p:txBody>
      </p:sp>
      <p:sp>
        <p:nvSpPr>
          <p:cNvPr id="3" name="Text 1"/>
          <p:cNvSpPr/>
          <p:nvPr/>
        </p:nvSpPr>
        <p:spPr>
          <a:xfrm>
            <a:off x="594360" y="658368"/>
            <a:ext cx="11002975" cy="566928"/>
          </a:xfrm>
          <a:prstGeom prst="rect">
            <a:avLst/>
          </a:prstGeom>
          <a:noFill/>
          <a:ln/>
        </p:spPr>
        <p:txBody>
          <a:bodyPr wrap="square" lIns="0" tIns="0" rIns="0" bIns="0" rtlCol="0" anchor="t"/>
          <a:lstStyle/>
          <a:p>
            <a:pPr indent="0" marL="0">
              <a:buNone/>
            </a:pPr>
            <a:r>
              <a:rPr lang="en-US" sz="3100" b="1" dirty="0">
                <a:solidFill>
                  <a:srgbClr val="1E211D"/>
                </a:solidFill>
                <a:latin typeface="Cambria" pitchFamily="34" charset="0"/>
                <a:ea typeface="Cambria" pitchFamily="34" charset="-122"/>
                <a:cs typeface="Cambria" pitchFamily="34" charset="-120"/>
              </a:rPr>
              <a:t>Where each plan puts its weight</a:t>
            </a:r>
            <a:endParaRPr lang="en-US" sz="3100" dirty="0"/>
          </a:p>
        </p:txBody>
      </p:sp>
      <p:sp>
        <p:nvSpPr>
          <p:cNvPr id="4" name="Shape 2"/>
          <p:cNvSpPr/>
          <p:nvPr/>
        </p:nvSpPr>
        <p:spPr>
          <a:xfrm>
            <a:off x="594360" y="1536192"/>
            <a:ext cx="3515258" cy="4434840"/>
          </a:xfrm>
          <a:prstGeom prst="roundRect">
            <a:avLst>
              <a:gd name="adj" fmla="val 1561"/>
            </a:avLst>
          </a:prstGeom>
          <a:solidFill>
            <a:srgbClr val="EEF1EF"/>
          </a:solidFill>
          <a:ln w="12700">
            <a:solidFill>
              <a:srgbClr val="EEF1EF"/>
            </a:solidFill>
            <a:prstDash val="solid"/>
          </a:ln>
        </p:spPr>
      </p:sp>
      <p:sp>
        <p:nvSpPr>
          <p:cNvPr id="5" name="Text 3"/>
          <p:cNvSpPr/>
          <p:nvPr/>
        </p:nvSpPr>
        <p:spPr>
          <a:xfrm>
            <a:off x="868680" y="1783080"/>
            <a:ext cx="457200" cy="457200"/>
          </a:xfrm>
          <a:prstGeom prst="ellipse">
            <a:avLst/>
          </a:prstGeom>
          <a:solidFill>
            <a:srgbClr val="1F5B4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a:t>
            </a:r>
            <a:endParaRPr lang="en-US" sz="1600" dirty="0"/>
          </a:p>
        </p:txBody>
      </p:sp>
      <p:sp>
        <p:nvSpPr>
          <p:cNvPr id="6" name="Text 4"/>
          <p:cNvSpPr/>
          <p:nvPr/>
        </p:nvSpPr>
        <p:spPr>
          <a:xfrm>
            <a:off x="1435608" y="1819656"/>
            <a:ext cx="2417978" cy="402336"/>
          </a:xfrm>
          <a:prstGeom prst="rect">
            <a:avLst/>
          </a:prstGeom>
          <a:noFill/>
          <a:ln/>
        </p:spPr>
        <p:txBody>
          <a:bodyPr wrap="square" lIns="0" tIns="0" rIns="0" bIns="0" rtlCol="0" anchor="ctr"/>
          <a:lstStyle/>
          <a:p>
            <a:pPr indent="0" marL="0">
              <a:buNone/>
            </a:pPr>
            <a:r>
              <a:rPr lang="en-US" sz="2000" b="1" dirty="0">
                <a:solidFill>
                  <a:srgbClr val="1E211D"/>
                </a:solidFill>
                <a:latin typeface="Cambria" pitchFamily="34" charset="0"/>
                <a:ea typeface="Cambria" pitchFamily="34" charset="-122"/>
                <a:cs typeface="Cambria" pitchFamily="34" charset="-120"/>
              </a:rPr>
              <a:t>EPAR</a:t>
            </a:r>
            <a:endParaRPr lang="en-US" sz="2000" dirty="0"/>
          </a:p>
        </p:txBody>
      </p:sp>
      <p:sp>
        <p:nvSpPr>
          <p:cNvPr id="7" name="Text 5"/>
          <p:cNvSpPr/>
          <p:nvPr/>
        </p:nvSpPr>
        <p:spPr>
          <a:xfrm>
            <a:off x="868680" y="2395728"/>
            <a:ext cx="2966618" cy="960120"/>
          </a:xfrm>
          <a:prstGeom prst="rect">
            <a:avLst/>
          </a:prstGeom>
          <a:noFill/>
          <a:ln/>
        </p:spPr>
        <p:txBody>
          <a:bodyPr wrap="square" lIns="0" tIns="0" rIns="0" bIns="0" rtlCol="0" anchor="ctr"/>
          <a:lstStyle/>
          <a:p>
            <a:pPr indent="0" marL="0">
              <a:lnSpc>
                <a:spcPts val="1600"/>
              </a:lnSpc>
              <a:buNone/>
            </a:pPr>
            <a:r>
              <a:rPr lang="en-US" sz="1150" dirty="0">
                <a:solidFill>
                  <a:srgbClr val="3D423C"/>
                </a:solidFill>
                <a:latin typeface="Calibri" pitchFamily="34" charset="0"/>
                <a:ea typeface="Calibri" pitchFamily="34" charset="-122"/>
                <a:cs typeface="Calibri" pitchFamily="34" charset="-120"/>
              </a:rPr>
              <a:t>The most operationally specific plan, and the only one with a named owner on every goal. Attacks cost by changing structures.</a:t>
            </a:r>
            <a:endParaRPr lang="en-US" sz="1150" dirty="0"/>
          </a:p>
        </p:txBody>
      </p:sp>
      <p:sp>
        <p:nvSpPr>
          <p:cNvPr id="8" name="Text 6"/>
          <p:cNvSpPr/>
          <p:nvPr/>
        </p:nvSpPr>
        <p:spPr>
          <a:xfrm>
            <a:off x="868680" y="3456432"/>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Census</a:t>
            </a:r>
            <a:endParaRPr lang="en-US" sz="1050" dirty="0"/>
          </a:p>
        </p:txBody>
      </p:sp>
      <p:sp>
        <p:nvSpPr>
          <p:cNvPr id="9" name="Text 7"/>
          <p:cNvSpPr/>
          <p:nvPr/>
        </p:nvSpPr>
        <p:spPr>
          <a:xfrm>
            <a:off x="2173992" y="3456432"/>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75+ ADC</a:t>
            </a:r>
            <a:endParaRPr lang="en-US" sz="1100" dirty="0"/>
          </a:p>
        </p:txBody>
      </p:sp>
      <p:sp>
        <p:nvSpPr>
          <p:cNvPr id="10" name="Shape 8"/>
          <p:cNvSpPr/>
          <p:nvPr/>
        </p:nvSpPr>
        <p:spPr>
          <a:xfrm>
            <a:off x="868680" y="3767328"/>
            <a:ext cx="2966618" cy="0"/>
          </a:xfrm>
          <a:prstGeom prst="line">
            <a:avLst/>
          </a:prstGeom>
          <a:noFill/>
          <a:ln w="9525">
            <a:solidFill>
              <a:srgbClr val="DCE2DE"/>
            </a:solidFill>
            <a:prstDash val="solid"/>
          </a:ln>
        </p:spPr>
      </p:sp>
      <p:sp>
        <p:nvSpPr>
          <p:cNvPr id="11" name="Text 9"/>
          <p:cNvSpPr/>
          <p:nvPr/>
        </p:nvSpPr>
        <p:spPr>
          <a:xfrm>
            <a:off x="868680" y="3941064"/>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Collections</a:t>
            </a:r>
            <a:endParaRPr lang="en-US" sz="1050" dirty="0"/>
          </a:p>
        </p:txBody>
      </p:sp>
      <p:sp>
        <p:nvSpPr>
          <p:cNvPr id="12" name="Text 10"/>
          <p:cNvSpPr/>
          <p:nvPr/>
        </p:nvSpPr>
        <p:spPr>
          <a:xfrm>
            <a:off x="2173992" y="3941064"/>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100%+</a:t>
            </a:r>
            <a:endParaRPr lang="en-US" sz="1100" dirty="0"/>
          </a:p>
        </p:txBody>
      </p:sp>
      <p:sp>
        <p:nvSpPr>
          <p:cNvPr id="13" name="Shape 11"/>
          <p:cNvSpPr/>
          <p:nvPr/>
        </p:nvSpPr>
        <p:spPr>
          <a:xfrm>
            <a:off x="868680" y="4251960"/>
            <a:ext cx="2966618" cy="0"/>
          </a:xfrm>
          <a:prstGeom prst="line">
            <a:avLst/>
          </a:prstGeom>
          <a:noFill/>
          <a:ln w="9525">
            <a:solidFill>
              <a:srgbClr val="DCE2DE"/>
            </a:solidFill>
            <a:prstDash val="solid"/>
          </a:ln>
        </p:spPr>
      </p:sp>
      <p:sp>
        <p:nvSpPr>
          <p:cNvPr id="14" name="Text 12"/>
          <p:cNvSpPr/>
          <p:nvPr/>
        </p:nvSpPr>
        <p:spPr>
          <a:xfrm>
            <a:off x="868680" y="4425696"/>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Bad debt</a:t>
            </a:r>
            <a:endParaRPr lang="en-US" sz="1050" dirty="0"/>
          </a:p>
        </p:txBody>
      </p:sp>
      <p:sp>
        <p:nvSpPr>
          <p:cNvPr id="15" name="Text 13"/>
          <p:cNvSpPr/>
          <p:nvPr/>
        </p:nvSpPr>
        <p:spPr>
          <a:xfrm>
            <a:off x="2173992" y="4425696"/>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≤3%</a:t>
            </a:r>
            <a:endParaRPr lang="en-US" sz="1100" dirty="0"/>
          </a:p>
        </p:txBody>
      </p:sp>
      <p:sp>
        <p:nvSpPr>
          <p:cNvPr id="16" name="Shape 14"/>
          <p:cNvSpPr/>
          <p:nvPr/>
        </p:nvSpPr>
        <p:spPr>
          <a:xfrm>
            <a:off x="868680" y="4736592"/>
            <a:ext cx="2966618" cy="0"/>
          </a:xfrm>
          <a:prstGeom prst="line">
            <a:avLst/>
          </a:prstGeom>
          <a:noFill/>
          <a:ln w="9525">
            <a:solidFill>
              <a:srgbClr val="DCE2DE"/>
            </a:solidFill>
            <a:prstDash val="solid"/>
          </a:ln>
        </p:spPr>
      </p:sp>
      <p:sp>
        <p:nvSpPr>
          <p:cNvPr id="17" name="Text 15"/>
          <p:cNvSpPr/>
          <p:nvPr/>
        </p:nvSpPr>
        <p:spPr>
          <a:xfrm>
            <a:off x="868680" y="4910328"/>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Overtime</a:t>
            </a:r>
            <a:endParaRPr lang="en-US" sz="1050" dirty="0"/>
          </a:p>
        </p:txBody>
      </p:sp>
      <p:sp>
        <p:nvSpPr>
          <p:cNvPr id="18" name="Text 16"/>
          <p:cNvSpPr/>
          <p:nvPr/>
        </p:nvSpPr>
        <p:spPr>
          <a:xfrm>
            <a:off x="2173992" y="4910328"/>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&lt;10%</a:t>
            </a:r>
            <a:endParaRPr lang="en-US" sz="1100" dirty="0"/>
          </a:p>
        </p:txBody>
      </p:sp>
      <p:sp>
        <p:nvSpPr>
          <p:cNvPr id="19" name="Shape 17"/>
          <p:cNvSpPr/>
          <p:nvPr/>
        </p:nvSpPr>
        <p:spPr>
          <a:xfrm>
            <a:off x="868680" y="5221224"/>
            <a:ext cx="2966618" cy="0"/>
          </a:xfrm>
          <a:prstGeom prst="line">
            <a:avLst/>
          </a:prstGeom>
          <a:noFill/>
          <a:ln w="9525">
            <a:solidFill>
              <a:srgbClr val="DCE2DE"/>
            </a:solidFill>
            <a:prstDash val="solid"/>
          </a:ln>
        </p:spPr>
      </p:sp>
      <p:sp>
        <p:nvSpPr>
          <p:cNvPr id="20" name="Text 18"/>
          <p:cNvSpPr/>
          <p:nvPr/>
        </p:nvSpPr>
        <p:spPr>
          <a:xfrm>
            <a:off x="868680" y="5394960"/>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Signature bet</a:t>
            </a:r>
            <a:endParaRPr lang="en-US" sz="1050" dirty="0"/>
          </a:p>
        </p:txBody>
      </p:sp>
      <p:sp>
        <p:nvSpPr>
          <p:cNvPr id="21" name="Text 19"/>
          <p:cNvSpPr/>
          <p:nvPr/>
        </p:nvSpPr>
        <p:spPr>
          <a:xfrm>
            <a:off x="2173992" y="5394960"/>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Labs in-house 9/1</a:t>
            </a:r>
            <a:endParaRPr lang="en-US" sz="1100" dirty="0"/>
          </a:p>
        </p:txBody>
      </p:sp>
      <p:sp>
        <p:nvSpPr>
          <p:cNvPr id="22" name="Shape 20"/>
          <p:cNvSpPr/>
          <p:nvPr/>
        </p:nvSpPr>
        <p:spPr>
          <a:xfrm>
            <a:off x="868680" y="5705856"/>
            <a:ext cx="2966618" cy="0"/>
          </a:xfrm>
          <a:prstGeom prst="line">
            <a:avLst/>
          </a:prstGeom>
          <a:noFill/>
          <a:ln w="9525">
            <a:solidFill>
              <a:srgbClr val="DCE2DE"/>
            </a:solidFill>
            <a:prstDash val="solid"/>
          </a:ln>
        </p:spPr>
      </p:sp>
      <p:sp>
        <p:nvSpPr>
          <p:cNvPr id="23" name="Shape 21"/>
          <p:cNvSpPr/>
          <p:nvPr/>
        </p:nvSpPr>
        <p:spPr>
          <a:xfrm>
            <a:off x="4338218" y="1536192"/>
            <a:ext cx="3515258" cy="4434840"/>
          </a:xfrm>
          <a:prstGeom prst="roundRect">
            <a:avLst>
              <a:gd name="adj" fmla="val 1561"/>
            </a:avLst>
          </a:prstGeom>
          <a:solidFill>
            <a:srgbClr val="EEF1EF"/>
          </a:solidFill>
          <a:ln w="12700">
            <a:solidFill>
              <a:srgbClr val="EEF1EF"/>
            </a:solidFill>
            <a:prstDash val="solid"/>
          </a:ln>
        </p:spPr>
      </p:sp>
      <p:sp>
        <p:nvSpPr>
          <p:cNvPr id="24" name="Text 22"/>
          <p:cNvSpPr/>
          <p:nvPr/>
        </p:nvSpPr>
        <p:spPr>
          <a:xfrm>
            <a:off x="4612538" y="1783080"/>
            <a:ext cx="457200" cy="457200"/>
          </a:xfrm>
          <a:prstGeom prst="ellipse">
            <a:avLst/>
          </a:prstGeom>
          <a:solidFill>
            <a:srgbClr val="1F5B4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a:t>
            </a:r>
            <a:endParaRPr lang="en-US" sz="1600" dirty="0"/>
          </a:p>
        </p:txBody>
      </p:sp>
      <p:sp>
        <p:nvSpPr>
          <p:cNvPr id="25" name="Text 23"/>
          <p:cNvSpPr/>
          <p:nvPr/>
        </p:nvSpPr>
        <p:spPr>
          <a:xfrm>
            <a:off x="5179466" y="1819656"/>
            <a:ext cx="2417978" cy="402336"/>
          </a:xfrm>
          <a:prstGeom prst="rect">
            <a:avLst/>
          </a:prstGeom>
          <a:noFill/>
          <a:ln/>
        </p:spPr>
        <p:txBody>
          <a:bodyPr wrap="square" lIns="0" tIns="0" rIns="0" bIns="0" rtlCol="0" anchor="ctr"/>
          <a:lstStyle/>
          <a:p>
            <a:pPr indent="0" marL="0">
              <a:buNone/>
            </a:pPr>
            <a:r>
              <a:rPr lang="en-US" sz="2000" b="1" dirty="0">
                <a:solidFill>
                  <a:srgbClr val="1E211D"/>
                </a:solidFill>
                <a:latin typeface="Cambria" pitchFamily="34" charset="0"/>
                <a:ea typeface="Cambria" pitchFamily="34" charset="-122"/>
                <a:cs typeface="Cambria" pitchFamily="34" charset="-120"/>
              </a:rPr>
              <a:t>Littleton</a:t>
            </a:r>
            <a:endParaRPr lang="en-US" sz="2000" dirty="0"/>
          </a:p>
        </p:txBody>
      </p:sp>
      <p:sp>
        <p:nvSpPr>
          <p:cNvPr id="26" name="Text 24"/>
          <p:cNvSpPr/>
          <p:nvPr/>
        </p:nvSpPr>
        <p:spPr>
          <a:xfrm>
            <a:off x="4612538" y="2395728"/>
            <a:ext cx="2966618" cy="960120"/>
          </a:xfrm>
          <a:prstGeom prst="rect">
            <a:avLst/>
          </a:prstGeom>
          <a:noFill/>
          <a:ln/>
        </p:spPr>
        <p:txBody>
          <a:bodyPr wrap="square" lIns="0" tIns="0" rIns="0" bIns="0" rtlCol="0" anchor="ctr"/>
          <a:lstStyle/>
          <a:p>
            <a:pPr indent="0" marL="0">
              <a:lnSpc>
                <a:spcPts val="1600"/>
              </a:lnSpc>
              <a:buNone/>
            </a:pPr>
            <a:r>
              <a:rPr lang="en-US" sz="1150" dirty="0">
                <a:solidFill>
                  <a:srgbClr val="3D423C"/>
                </a:solidFill>
                <a:latin typeface="Calibri" pitchFamily="34" charset="0"/>
                <a:ea typeface="Calibri" pitchFamily="34" charset="-122"/>
                <a:cs typeface="Calibri" pitchFamily="34" charset="-120"/>
              </a:rPr>
              <a:t>The only plan built around workforce and culture as the engine. Names the hardest number in the cluster and treats agency as its symptom.</a:t>
            </a:r>
            <a:endParaRPr lang="en-US" sz="1150" dirty="0"/>
          </a:p>
        </p:txBody>
      </p:sp>
      <p:sp>
        <p:nvSpPr>
          <p:cNvPr id="27" name="Text 25"/>
          <p:cNvSpPr/>
          <p:nvPr/>
        </p:nvSpPr>
        <p:spPr>
          <a:xfrm>
            <a:off x="4612538" y="3456432"/>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Skilled mix</a:t>
            </a:r>
            <a:endParaRPr lang="en-US" sz="1050" dirty="0"/>
          </a:p>
        </p:txBody>
      </p:sp>
      <p:sp>
        <p:nvSpPr>
          <p:cNvPr id="28" name="Text 26"/>
          <p:cNvSpPr/>
          <p:nvPr/>
        </p:nvSpPr>
        <p:spPr>
          <a:xfrm>
            <a:off x="5917850" y="3456432"/>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50%</a:t>
            </a:r>
            <a:endParaRPr lang="en-US" sz="1100" dirty="0"/>
          </a:p>
        </p:txBody>
      </p:sp>
      <p:sp>
        <p:nvSpPr>
          <p:cNvPr id="29" name="Shape 27"/>
          <p:cNvSpPr/>
          <p:nvPr/>
        </p:nvSpPr>
        <p:spPr>
          <a:xfrm>
            <a:off x="4612538" y="3767328"/>
            <a:ext cx="2966618" cy="0"/>
          </a:xfrm>
          <a:prstGeom prst="line">
            <a:avLst/>
          </a:prstGeom>
          <a:noFill/>
          <a:ln w="9525">
            <a:solidFill>
              <a:srgbClr val="DCE2DE"/>
            </a:solidFill>
            <a:prstDash val="solid"/>
          </a:ln>
        </p:spPr>
      </p:sp>
      <p:sp>
        <p:nvSpPr>
          <p:cNvPr id="30" name="Text 28"/>
          <p:cNvSpPr/>
          <p:nvPr/>
        </p:nvSpPr>
        <p:spPr>
          <a:xfrm>
            <a:off x="4612538" y="3941064"/>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Collections</a:t>
            </a:r>
            <a:endParaRPr lang="en-US" sz="1050" dirty="0"/>
          </a:p>
        </p:txBody>
      </p:sp>
      <p:sp>
        <p:nvSpPr>
          <p:cNvPr id="31" name="Text 29"/>
          <p:cNvSpPr/>
          <p:nvPr/>
        </p:nvSpPr>
        <p:spPr>
          <a:xfrm>
            <a:off x="5917850" y="3941064"/>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100% (avg 94%)</a:t>
            </a:r>
            <a:endParaRPr lang="en-US" sz="1100" dirty="0"/>
          </a:p>
        </p:txBody>
      </p:sp>
      <p:sp>
        <p:nvSpPr>
          <p:cNvPr id="32" name="Shape 30"/>
          <p:cNvSpPr/>
          <p:nvPr/>
        </p:nvSpPr>
        <p:spPr>
          <a:xfrm>
            <a:off x="4612538" y="4251960"/>
            <a:ext cx="2966618" cy="0"/>
          </a:xfrm>
          <a:prstGeom prst="line">
            <a:avLst/>
          </a:prstGeom>
          <a:noFill/>
          <a:ln w="9525">
            <a:solidFill>
              <a:srgbClr val="DCE2DE"/>
            </a:solidFill>
            <a:prstDash val="solid"/>
          </a:ln>
        </p:spPr>
      </p:sp>
      <p:sp>
        <p:nvSpPr>
          <p:cNvPr id="33" name="Text 31"/>
          <p:cNvSpPr/>
          <p:nvPr/>
        </p:nvSpPr>
        <p:spPr>
          <a:xfrm>
            <a:off x="4612538" y="4425696"/>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Agency</a:t>
            </a:r>
            <a:endParaRPr lang="en-US" sz="1050" dirty="0"/>
          </a:p>
        </p:txBody>
      </p:sp>
      <p:sp>
        <p:nvSpPr>
          <p:cNvPr id="34" name="Text 32"/>
          <p:cNvSpPr/>
          <p:nvPr/>
        </p:nvSpPr>
        <p:spPr>
          <a:xfrm>
            <a:off x="5917850" y="4425696"/>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$17 → &lt;$2 WPPD</a:t>
            </a:r>
            <a:endParaRPr lang="en-US" sz="1100" dirty="0"/>
          </a:p>
        </p:txBody>
      </p:sp>
      <p:sp>
        <p:nvSpPr>
          <p:cNvPr id="35" name="Shape 33"/>
          <p:cNvSpPr/>
          <p:nvPr/>
        </p:nvSpPr>
        <p:spPr>
          <a:xfrm>
            <a:off x="4612538" y="4736592"/>
            <a:ext cx="2966618" cy="0"/>
          </a:xfrm>
          <a:prstGeom prst="line">
            <a:avLst/>
          </a:prstGeom>
          <a:noFill/>
          <a:ln w="9525">
            <a:solidFill>
              <a:srgbClr val="DCE2DE"/>
            </a:solidFill>
            <a:prstDash val="solid"/>
          </a:ln>
        </p:spPr>
      </p:sp>
      <p:sp>
        <p:nvSpPr>
          <p:cNvPr id="36" name="Text 34"/>
          <p:cNvSpPr/>
          <p:nvPr/>
        </p:nvSpPr>
        <p:spPr>
          <a:xfrm>
            <a:off x="4612538" y="4910328"/>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Turnover</a:t>
            </a:r>
            <a:endParaRPr lang="en-US" sz="1050" dirty="0"/>
          </a:p>
        </p:txBody>
      </p:sp>
      <p:sp>
        <p:nvSpPr>
          <p:cNvPr id="37" name="Text 35"/>
          <p:cNvSpPr/>
          <p:nvPr/>
        </p:nvSpPr>
        <p:spPr>
          <a:xfrm>
            <a:off x="5917850" y="4910328"/>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61% → &lt;30%</a:t>
            </a:r>
            <a:endParaRPr lang="en-US" sz="1100" dirty="0"/>
          </a:p>
        </p:txBody>
      </p:sp>
      <p:sp>
        <p:nvSpPr>
          <p:cNvPr id="38" name="Shape 36"/>
          <p:cNvSpPr/>
          <p:nvPr/>
        </p:nvSpPr>
        <p:spPr>
          <a:xfrm>
            <a:off x="4612538" y="5221224"/>
            <a:ext cx="2966618" cy="0"/>
          </a:xfrm>
          <a:prstGeom prst="line">
            <a:avLst/>
          </a:prstGeom>
          <a:noFill/>
          <a:ln w="9525">
            <a:solidFill>
              <a:srgbClr val="DCE2DE"/>
            </a:solidFill>
            <a:prstDash val="solid"/>
          </a:ln>
        </p:spPr>
      </p:sp>
      <p:sp>
        <p:nvSpPr>
          <p:cNvPr id="39" name="Text 37"/>
          <p:cNvSpPr/>
          <p:nvPr/>
        </p:nvSpPr>
        <p:spPr>
          <a:xfrm>
            <a:off x="4612538" y="5394960"/>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Signature bet</a:t>
            </a:r>
            <a:endParaRPr lang="en-US" sz="1050" dirty="0"/>
          </a:p>
        </p:txBody>
      </p:sp>
      <p:sp>
        <p:nvSpPr>
          <p:cNvPr id="40" name="Text 38"/>
          <p:cNvSpPr/>
          <p:nvPr/>
        </p:nvSpPr>
        <p:spPr>
          <a:xfrm>
            <a:off x="5917850" y="5394960"/>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Onboarding + culture</a:t>
            </a:r>
            <a:endParaRPr lang="en-US" sz="1100" dirty="0"/>
          </a:p>
        </p:txBody>
      </p:sp>
      <p:sp>
        <p:nvSpPr>
          <p:cNvPr id="41" name="Shape 39"/>
          <p:cNvSpPr/>
          <p:nvPr/>
        </p:nvSpPr>
        <p:spPr>
          <a:xfrm>
            <a:off x="4612538" y="5705856"/>
            <a:ext cx="2966618" cy="0"/>
          </a:xfrm>
          <a:prstGeom prst="line">
            <a:avLst/>
          </a:prstGeom>
          <a:noFill/>
          <a:ln w="9525">
            <a:solidFill>
              <a:srgbClr val="DCE2DE"/>
            </a:solidFill>
            <a:prstDash val="solid"/>
          </a:ln>
        </p:spPr>
      </p:sp>
      <p:sp>
        <p:nvSpPr>
          <p:cNvPr id="42" name="Shape 40"/>
          <p:cNvSpPr/>
          <p:nvPr/>
        </p:nvSpPr>
        <p:spPr>
          <a:xfrm>
            <a:off x="8082077" y="1536192"/>
            <a:ext cx="3515258" cy="4434840"/>
          </a:xfrm>
          <a:prstGeom prst="roundRect">
            <a:avLst>
              <a:gd name="adj" fmla="val 1561"/>
            </a:avLst>
          </a:prstGeom>
          <a:solidFill>
            <a:srgbClr val="EEF1EF"/>
          </a:solidFill>
          <a:ln w="12700">
            <a:solidFill>
              <a:srgbClr val="EEF1EF"/>
            </a:solidFill>
            <a:prstDash val="solid"/>
          </a:ln>
        </p:spPr>
      </p:sp>
      <p:sp>
        <p:nvSpPr>
          <p:cNvPr id="43" name="Text 41"/>
          <p:cNvSpPr/>
          <p:nvPr/>
        </p:nvSpPr>
        <p:spPr>
          <a:xfrm>
            <a:off x="8356397" y="1783080"/>
            <a:ext cx="457200" cy="457200"/>
          </a:xfrm>
          <a:prstGeom prst="ellipse">
            <a:avLst/>
          </a:prstGeom>
          <a:solidFill>
            <a:srgbClr val="1F5B4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JT</a:t>
            </a:r>
            <a:endParaRPr lang="en-US" sz="1300" dirty="0"/>
          </a:p>
        </p:txBody>
      </p:sp>
      <p:sp>
        <p:nvSpPr>
          <p:cNvPr id="44" name="Text 42"/>
          <p:cNvSpPr/>
          <p:nvPr/>
        </p:nvSpPr>
        <p:spPr>
          <a:xfrm>
            <a:off x="8923325" y="1819656"/>
            <a:ext cx="2417978" cy="402336"/>
          </a:xfrm>
          <a:prstGeom prst="rect">
            <a:avLst/>
          </a:prstGeom>
          <a:noFill/>
          <a:ln/>
        </p:spPr>
        <p:txBody>
          <a:bodyPr wrap="square" lIns="0" tIns="0" rIns="0" bIns="0" rtlCol="0" anchor="ctr"/>
          <a:lstStyle/>
          <a:p>
            <a:pPr indent="0" marL="0">
              <a:buNone/>
            </a:pPr>
            <a:r>
              <a:rPr lang="en-US" sz="2000" b="1" dirty="0">
                <a:solidFill>
                  <a:srgbClr val="1E211D"/>
                </a:solidFill>
                <a:latin typeface="Cambria" pitchFamily="34" charset="0"/>
                <a:ea typeface="Cambria" pitchFamily="34" charset="-122"/>
                <a:cs typeface="Cambria" pitchFamily="34" charset="-120"/>
              </a:rPr>
              <a:t>Julia Temple</a:t>
            </a:r>
            <a:endParaRPr lang="en-US" sz="2000" dirty="0"/>
          </a:p>
        </p:txBody>
      </p:sp>
      <p:sp>
        <p:nvSpPr>
          <p:cNvPr id="45" name="Text 43"/>
          <p:cNvSpPr/>
          <p:nvPr/>
        </p:nvSpPr>
        <p:spPr>
          <a:xfrm>
            <a:off x="8356397" y="2395728"/>
            <a:ext cx="2966618" cy="960120"/>
          </a:xfrm>
          <a:prstGeom prst="rect">
            <a:avLst/>
          </a:prstGeom>
          <a:noFill/>
          <a:ln/>
        </p:spPr>
        <p:txBody>
          <a:bodyPr wrap="square" lIns="0" tIns="0" rIns="0" bIns="0" rtlCol="0" anchor="ctr"/>
          <a:lstStyle/>
          <a:p>
            <a:pPr indent="0" marL="0">
              <a:lnSpc>
                <a:spcPts val="1600"/>
              </a:lnSpc>
              <a:buNone/>
            </a:pPr>
            <a:r>
              <a:rPr lang="en-US" sz="1150" dirty="0">
                <a:solidFill>
                  <a:srgbClr val="3D423C"/>
                </a:solidFill>
                <a:latin typeface="Calibri" pitchFamily="34" charset="0"/>
                <a:ea typeface="Calibri" pitchFamily="34" charset="-122"/>
                <a:cs typeface="Calibri" pitchFamily="34" charset="-120"/>
              </a:rPr>
              <a:t>The only plan that shows its math. Every priority carries a baseline, a monthly milestone and a dollar figure.</a:t>
            </a:r>
            <a:endParaRPr lang="en-US" sz="1150" dirty="0"/>
          </a:p>
        </p:txBody>
      </p:sp>
      <p:sp>
        <p:nvSpPr>
          <p:cNvPr id="46" name="Text 44"/>
          <p:cNvSpPr/>
          <p:nvPr/>
        </p:nvSpPr>
        <p:spPr>
          <a:xfrm>
            <a:off x="8356397" y="3456432"/>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Census</a:t>
            </a:r>
            <a:endParaRPr lang="en-US" sz="1050" dirty="0"/>
          </a:p>
        </p:txBody>
      </p:sp>
      <p:sp>
        <p:nvSpPr>
          <p:cNvPr id="47" name="Text 45"/>
          <p:cNvSpPr/>
          <p:nvPr/>
        </p:nvSpPr>
        <p:spPr>
          <a:xfrm>
            <a:off x="9661709" y="3456432"/>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102/16 → 120/25</a:t>
            </a:r>
            <a:endParaRPr lang="en-US" sz="1100" dirty="0"/>
          </a:p>
        </p:txBody>
      </p:sp>
      <p:sp>
        <p:nvSpPr>
          <p:cNvPr id="48" name="Shape 46"/>
          <p:cNvSpPr/>
          <p:nvPr/>
        </p:nvSpPr>
        <p:spPr>
          <a:xfrm>
            <a:off x="8356397" y="3767328"/>
            <a:ext cx="2966618" cy="0"/>
          </a:xfrm>
          <a:prstGeom prst="line">
            <a:avLst/>
          </a:prstGeom>
          <a:noFill/>
          <a:ln w="9525">
            <a:solidFill>
              <a:srgbClr val="DCE2DE"/>
            </a:solidFill>
            <a:prstDash val="solid"/>
          </a:ln>
        </p:spPr>
      </p:sp>
      <p:sp>
        <p:nvSpPr>
          <p:cNvPr id="49" name="Text 47"/>
          <p:cNvSpPr/>
          <p:nvPr/>
        </p:nvSpPr>
        <p:spPr>
          <a:xfrm>
            <a:off x="8356397" y="3941064"/>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Collections</a:t>
            </a:r>
            <a:endParaRPr lang="en-US" sz="1050" dirty="0"/>
          </a:p>
        </p:txBody>
      </p:sp>
      <p:sp>
        <p:nvSpPr>
          <p:cNvPr id="50" name="Text 48"/>
          <p:cNvSpPr/>
          <p:nvPr/>
        </p:nvSpPr>
        <p:spPr>
          <a:xfrm>
            <a:off x="9661709" y="3941064"/>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&gt;100%</a:t>
            </a:r>
            <a:endParaRPr lang="en-US" sz="1100" dirty="0"/>
          </a:p>
        </p:txBody>
      </p:sp>
      <p:sp>
        <p:nvSpPr>
          <p:cNvPr id="51" name="Shape 49"/>
          <p:cNvSpPr/>
          <p:nvPr/>
        </p:nvSpPr>
        <p:spPr>
          <a:xfrm>
            <a:off x="8356397" y="4251960"/>
            <a:ext cx="2966618" cy="0"/>
          </a:xfrm>
          <a:prstGeom prst="line">
            <a:avLst/>
          </a:prstGeom>
          <a:noFill/>
          <a:ln w="9525">
            <a:solidFill>
              <a:srgbClr val="DCE2DE"/>
            </a:solidFill>
            <a:prstDash val="solid"/>
          </a:ln>
        </p:spPr>
      </p:sp>
      <p:sp>
        <p:nvSpPr>
          <p:cNvPr id="52" name="Text 50"/>
          <p:cNvSpPr/>
          <p:nvPr/>
        </p:nvSpPr>
        <p:spPr>
          <a:xfrm>
            <a:off x="8356397" y="4425696"/>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Bad debt</a:t>
            </a:r>
            <a:endParaRPr lang="en-US" sz="1050" dirty="0"/>
          </a:p>
        </p:txBody>
      </p:sp>
      <p:sp>
        <p:nvSpPr>
          <p:cNvPr id="53" name="Text 51"/>
          <p:cNvSpPr/>
          <p:nvPr/>
        </p:nvSpPr>
        <p:spPr>
          <a:xfrm>
            <a:off x="9661709" y="4425696"/>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2.05% → &lt;1%</a:t>
            </a:r>
            <a:endParaRPr lang="en-US" sz="1100" dirty="0"/>
          </a:p>
        </p:txBody>
      </p:sp>
      <p:sp>
        <p:nvSpPr>
          <p:cNvPr id="54" name="Shape 52"/>
          <p:cNvSpPr/>
          <p:nvPr/>
        </p:nvSpPr>
        <p:spPr>
          <a:xfrm>
            <a:off x="8356397" y="4736592"/>
            <a:ext cx="2966618" cy="0"/>
          </a:xfrm>
          <a:prstGeom prst="line">
            <a:avLst/>
          </a:prstGeom>
          <a:noFill/>
          <a:ln w="9525">
            <a:solidFill>
              <a:srgbClr val="DCE2DE"/>
            </a:solidFill>
            <a:prstDash val="solid"/>
          </a:ln>
        </p:spPr>
      </p:sp>
      <p:sp>
        <p:nvSpPr>
          <p:cNvPr id="55" name="Text 53"/>
          <p:cNvSpPr/>
          <p:nvPr/>
        </p:nvSpPr>
        <p:spPr>
          <a:xfrm>
            <a:off x="8356397" y="4910328"/>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Overtime</a:t>
            </a:r>
            <a:endParaRPr lang="en-US" sz="1050" dirty="0"/>
          </a:p>
        </p:txBody>
      </p:sp>
      <p:sp>
        <p:nvSpPr>
          <p:cNvPr id="56" name="Text 54"/>
          <p:cNvSpPr/>
          <p:nvPr/>
        </p:nvSpPr>
        <p:spPr>
          <a:xfrm>
            <a:off x="9661709" y="4910328"/>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14.4% → ≤10%</a:t>
            </a:r>
            <a:endParaRPr lang="en-US" sz="1100" dirty="0"/>
          </a:p>
        </p:txBody>
      </p:sp>
      <p:sp>
        <p:nvSpPr>
          <p:cNvPr id="57" name="Shape 55"/>
          <p:cNvSpPr/>
          <p:nvPr/>
        </p:nvSpPr>
        <p:spPr>
          <a:xfrm>
            <a:off x="8356397" y="5221224"/>
            <a:ext cx="2966618" cy="0"/>
          </a:xfrm>
          <a:prstGeom prst="line">
            <a:avLst/>
          </a:prstGeom>
          <a:noFill/>
          <a:ln w="9525">
            <a:solidFill>
              <a:srgbClr val="DCE2DE"/>
            </a:solidFill>
            <a:prstDash val="solid"/>
          </a:ln>
        </p:spPr>
      </p:sp>
      <p:sp>
        <p:nvSpPr>
          <p:cNvPr id="58" name="Text 56"/>
          <p:cNvSpPr/>
          <p:nvPr/>
        </p:nvSpPr>
        <p:spPr>
          <a:xfrm>
            <a:off x="8356397" y="5394960"/>
            <a:ext cx="1305312" cy="274320"/>
          </a:xfrm>
          <a:prstGeom prst="rect">
            <a:avLst/>
          </a:prstGeom>
          <a:noFill/>
          <a:ln/>
        </p:spPr>
        <p:txBody>
          <a:bodyPr wrap="square" lIns="0" tIns="0" rIns="0" bIns="0" rtlCol="0" anchor="ctr"/>
          <a:lstStyle/>
          <a:p>
            <a:pPr indent="0" marL="0">
              <a:buNone/>
            </a:pPr>
            <a:r>
              <a:rPr lang="en-US" sz="1050" dirty="0">
                <a:solidFill>
                  <a:srgbClr val="6E746D"/>
                </a:solidFill>
                <a:latin typeface="Calibri" pitchFamily="34" charset="0"/>
                <a:ea typeface="Calibri" pitchFamily="34" charset="-122"/>
                <a:cs typeface="Calibri" pitchFamily="34" charset="-120"/>
              </a:rPr>
              <a:t>Upside</a:t>
            </a:r>
            <a:endParaRPr lang="en-US" sz="1050" dirty="0"/>
          </a:p>
        </p:txBody>
      </p:sp>
      <p:sp>
        <p:nvSpPr>
          <p:cNvPr id="59" name="Text 57"/>
          <p:cNvSpPr/>
          <p:nvPr/>
        </p:nvSpPr>
        <p:spPr>
          <a:xfrm>
            <a:off x="9661709" y="5394960"/>
            <a:ext cx="1661306" cy="274320"/>
          </a:xfrm>
          <a:prstGeom prst="rect">
            <a:avLst/>
          </a:prstGeom>
          <a:noFill/>
          <a:ln/>
        </p:spPr>
        <p:txBody>
          <a:bodyPr wrap="square" lIns="0" tIns="0" rIns="0" bIns="0" rtlCol="0" anchor="ctr"/>
          <a:lstStyle/>
          <a:p>
            <a:pPr algn="r" indent="0" marL="0">
              <a:buNone/>
            </a:pPr>
            <a:r>
              <a:rPr lang="en-US" sz="1100" b="1" dirty="0">
                <a:solidFill>
                  <a:srgbClr val="1E211D"/>
                </a:solidFill>
                <a:latin typeface="Calibri" pitchFamily="34" charset="0"/>
                <a:ea typeface="Calibri" pitchFamily="34" charset="-122"/>
                <a:cs typeface="Calibri" pitchFamily="34" charset="-120"/>
              </a:rPr>
              <a:t>~$274K/mo</a:t>
            </a:r>
            <a:endParaRPr lang="en-US" sz="1100" dirty="0"/>
          </a:p>
        </p:txBody>
      </p:sp>
      <p:sp>
        <p:nvSpPr>
          <p:cNvPr id="60" name="Shape 58"/>
          <p:cNvSpPr/>
          <p:nvPr/>
        </p:nvSpPr>
        <p:spPr>
          <a:xfrm>
            <a:off x="8356397" y="5705856"/>
            <a:ext cx="2966618" cy="0"/>
          </a:xfrm>
          <a:prstGeom prst="line">
            <a:avLst/>
          </a:prstGeom>
          <a:noFill/>
          <a:ln w="9525">
            <a:solidFill>
              <a:srgbClr val="DCE2DE"/>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1002975"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SIDE BY SIDE  ·  1 OF 2</a:t>
            </a:r>
            <a:endParaRPr lang="en-US" sz="1100" dirty="0"/>
          </a:p>
        </p:txBody>
      </p:sp>
      <p:sp>
        <p:nvSpPr>
          <p:cNvPr id="3" name="Text 1"/>
          <p:cNvSpPr/>
          <p:nvPr/>
        </p:nvSpPr>
        <p:spPr>
          <a:xfrm>
            <a:off x="594360" y="658368"/>
            <a:ext cx="11002975" cy="566928"/>
          </a:xfrm>
          <a:prstGeom prst="rect">
            <a:avLst/>
          </a:prstGeom>
          <a:noFill/>
          <a:ln/>
        </p:spPr>
        <p:txBody>
          <a:bodyPr wrap="square" lIns="0" tIns="0" rIns="0" bIns="0" rtlCol="0" anchor="t"/>
          <a:lstStyle/>
          <a:p>
            <a:pPr indent="0" marL="0">
              <a:buNone/>
            </a:pPr>
            <a:r>
              <a:rPr lang="en-US" sz="3100" b="1" dirty="0">
                <a:solidFill>
                  <a:srgbClr val="1E211D"/>
                </a:solidFill>
                <a:latin typeface="Cambria" pitchFamily="34" charset="0"/>
                <a:ea typeface="Cambria" pitchFamily="34" charset="-122"/>
                <a:cs typeface="Cambria" pitchFamily="34" charset="-120"/>
              </a:rPr>
              <a:t>The same plan, three vocabularies</a:t>
            </a:r>
            <a:endParaRPr lang="en-US" sz="3100" dirty="0"/>
          </a:p>
        </p:txBody>
      </p:sp>
      <p:sp>
        <p:nvSpPr>
          <p:cNvPr id="4" name="Text 2"/>
          <p:cNvSpPr/>
          <p:nvPr/>
        </p:nvSpPr>
        <p:spPr>
          <a:xfrm>
            <a:off x="594360" y="1298448"/>
            <a:ext cx="11002975" cy="274320"/>
          </a:xfrm>
          <a:prstGeom prst="rect">
            <a:avLst/>
          </a:prstGeom>
          <a:noFill/>
          <a:ln/>
        </p:spPr>
        <p:txBody>
          <a:bodyPr wrap="square" lIns="0" tIns="0" rIns="0" bIns="0" rtlCol="0" anchor="ctr"/>
          <a:lstStyle/>
          <a:p>
            <a:pPr indent="0" marL="0">
              <a:buNone/>
            </a:pPr>
            <a:r>
              <a:rPr lang="en-US" sz="1200" dirty="0">
                <a:solidFill>
                  <a:srgbClr val="6E746D"/>
                </a:solidFill>
                <a:latin typeface="Calibri" pitchFamily="34" charset="0"/>
                <a:ea typeface="Calibri" pitchFamily="34" charset="-122"/>
                <a:cs typeface="Calibri" pitchFamily="34" charset="-120"/>
              </a:rPr>
              <a:t>Read down a row, not across a plan. Orange means the plan is silent on that dimension — and in every case, at least one peer is not.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 y="1700784"/>
          <a:ext cx="11002975" cy="914400"/>
        </p:xfrm>
        <a:graphic>
          <a:graphicData uri="http://schemas.openxmlformats.org/drawingml/2006/table">
            <a:tbl>
              <a:tblPr/>
              <a:tblGrid>
                <a:gridCol w="2514600"/>
                <a:gridCol w="2825496"/>
                <a:gridCol w="2825496"/>
                <a:gridCol w="2834640"/>
              </a:tblGrid>
              <a:tr h="0">
                <a:tc>
                  <a:txBody>
                    <a:bodyPr/>
                    <a:lstStyle/>
                    <a:p>
                      <a:pPr indent="0" marL="0">
                        <a:buNone/>
                      </a:pPr>
                      <a:r>
                        <a:rPr lang="en-US" sz="1100" b="1" spc="140" kern="0"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1F5B4E"/>
                    </a:solidFill>
                  </a:tcPr>
                </a:tc>
                <a:tc>
                  <a:txBody>
                    <a:bodyPr/>
                    <a:lstStyle/>
                    <a:p>
                      <a:pPr indent="0" marL="0">
                        <a:buNone/>
                      </a:pPr>
                      <a:r>
                        <a:rPr lang="en-US" sz="1100" b="1" spc="140" kern="0" dirty="0">
                          <a:solidFill>
                            <a:srgbClr val="FFFFFF"/>
                          </a:solidFill>
                          <a:latin typeface="Calibri" pitchFamily="34" charset="0"/>
                          <a:ea typeface="Calibri" pitchFamily="34" charset="-122"/>
                          <a:cs typeface="Calibri" pitchFamily="34" charset="-120"/>
                        </a:rPr>
                        <a:t>EPAR</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1F5B4E"/>
                    </a:solidFill>
                  </a:tcPr>
                </a:tc>
                <a:tc>
                  <a:txBody>
                    <a:bodyPr/>
                    <a:lstStyle/>
                    <a:p>
                      <a:pPr indent="0" marL="0">
                        <a:buNone/>
                      </a:pPr>
                      <a:r>
                        <a:rPr lang="en-US" sz="1100" b="1" spc="140" kern="0" dirty="0">
                          <a:solidFill>
                            <a:srgbClr val="FFFFFF"/>
                          </a:solidFill>
                          <a:latin typeface="Calibri" pitchFamily="34" charset="0"/>
                          <a:ea typeface="Calibri" pitchFamily="34" charset="-122"/>
                          <a:cs typeface="Calibri" pitchFamily="34" charset="-120"/>
                        </a:rPr>
                        <a:t>LITTLETON</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1F5B4E"/>
                    </a:solidFill>
                  </a:tcPr>
                </a:tc>
                <a:tc>
                  <a:txBody>
                    <a:bodyPr/>
                    <a:lstStyle/>
                    <a:p>
                      <a:pPr indent="0" marL="0">
                        <a:buNone/>
                      </a:pPr>
                      <a:r>
                        <a:rPr lang="en-US" sz="1100" b="1" spc="140" kern="0" dirty="0">
                          <a:solidFill>
                            <a:srgbClr val="FFFFFF"/>
                          </a:solidFill>
                          <a:latin typeface="Calibri" pitchFamily="34" charset="0"/>
                          <a:ea typeface="Calibri" pitchFamily="34" charset="-122"/>
                          <a:cs typeface="Calibri" pitchFamily="34" charset="-120"/>
                        </a:rPr>
                        <a:t>JULIA TEMPLE</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1F5B4E"/>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Volume target</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75+ ADC</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 ADC stated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120 total / 25 skilled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Current baseline</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not stated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not stated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102 / 16 (July MTD)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Payer mix</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LTC pipeline; private pay &amp; Part B</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50% skilled mix; 8–10 Medicare daily</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25 skilled of 120</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Cash collections</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100% monthly (avg 94%, range 78–109%)</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&gt;100% monthly</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Bad debt</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 target</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&lt;1% (from 2.05%)</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Labor cost</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OT &lt;10% + missed lunches</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Agency $17 → &lt;$2 WPPD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OT 14.4% → ≤10% ($50,200/mo)</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Open positions</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none stated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1 FT RN, 3 FT CNA, 2 PRN CNA</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3 RN/LPN, 5 CNA</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Turnover / retention</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not addressed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61% → &lt;30%; HR started 8/17</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not addressed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1002975"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SIDE BY SIDE  ·  2 OF 2</a:t>
            </a:r>
            <a:endParaRPr lang="en-US" sz="1100" dirty="0"/>
          </a:p>
        </p:txBody>
      </p:sp>
      <p:sp>
        <p:nvSpPr>
          <p:cNvPr id="3" name="Text 1"/>
          <p:cNvSpPr/>
          <p:nvPr/>
        </p:nvSpPr>
        <p:spPr>
          <a:xfrm>
            <a:off x="594360" y="658368"/>
            <a:ext cx="11002975" cy="566928"/>
          </a:xfrm>
          <a:prstGeom prst="rect">
            <a:avLst/>
          </a:prstGeom>
          <a:noFill/>
          <a:ln/>
        </p:spPr>
        <p:txBody>
          <a:bodyPr wrap="square" lIns="0" tIns="0" rIns="0" bIns="0" rtlCol="0" anchor="t"/>
          <a:lstStyle/>
          <a:p>
            <a:pPr indent="0" marL="0">
              <a:buNone/>
            </a:pPr>
            <a:r>
              <a:rPr lang="en-US" sz="3100" b="1" dirty="0">
                <a:solidFill>
                  <a:srgbClr val="1E211D"/>
                </a:solidFill>
                <a:latin typeface="Cambria" pitchFamily="34" charset="0"/>
                <a:ea typeface="Cambria" pitchFamily="34" charset="-122"/>
                <a:cs typeface="Cambria" pitchFamily="34" charset="-120"/>
              </a:rPr>
              <a:t>The same plan, three vocabularies</a:t>
            </a:r>
            <a:endParaRPr lang="en-US" sz="3100" dirty="0"/>
          </a:p>
        </p:txBody>
      </p:sp>
      <p:sp>
        <p:nvSpPr>
          <p:cNvPr id="4" name="Text 2"/>
          <p:cNvSpPr/>
          <p:nvPr/>
        </p:nvSpPr>
        <p:spPr>
          <a:xfrm>
            <a:off x="594360" y="1298448"/>
            <a:ext cx="11002975" cy="274320"/>
          </a:xfrm>
          <a:prstGeom prst="rect">
            <a:avLst/>
          </a:prstGeom>
          <a:noFill/>
          <a:ln/>
        </p:spPr>
        <p:txBody>
          <a:bodyPr wrap="square" lIns="0" tIns="0" rIns="0" bIns="0" rtlCol="0" anchor="ctr"/>
          <a:lstStyle/>
          <a:p>
            <a:pPr indent="0" marL="0">
              <a:buNone/>
            </a:pPr>
            <a:r>
              <a:rPr lang="en-US" sz="1200" dirty="0">
                <a:solidFill>
                  <a:srgbClr val="6E746D"/>
                </a:solidFill>
                <a:latin typeface="Calibri" pitchFamily="34" charset="0"/>
                <a:ea typeface="Calibri" pitchFamily="34" charset="-122"/>
                <a:cs typeface="Calibri" pitchFamily="34" charset="-120"/>
              </a:rPr>
              <a:t>Read down a row, not across a plan. Orange means the plan is silent on that dimension — and in every case, at least one peer is not.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700784"/>
          <a:ext cx="11002975" cy="914400"/>
        </p:xfrm>
        <a:graphic>
          <a:graphicData uri="http://schemas.openxmlformats.org/drawingml/2006/table">
            <a:tbl>
              <a:tblPr/>
              <a:tblGrid>
                <a:gridCol w="2514600"/>
                <a:gridCol w="2825496"/>
                <a:gridCol w="2825496"/>
                <a:gridCol w="2834640"/>
              </a:tblGrid>
              <a:tr h="0">
                <a:tc>
                  <a:txBody>
                    <a:bodyPr/>
                    <a:lstStyle/>
                    <a:p>
                      <a:pPr indent="0" marL="0">
                        <a:buNone/>
                      </a:pPr>
                      <a:r>
                        <a:rPr lang="en-US" sz="1100" b="1" spc="140" kern="0"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1F5B4E"/>
                    </a:solidFill>
                  </a:tcPr>
                </a:tc>
                <a:tc>
                  <a:txBody>
                    <a:bodyPr/>
                    <a:lstStyle/>
                    <a:p>
                      <a:pPr indent="0" marL="0">
                        <a:buNone/>
                      </a:pPr>
                      <a:r>
                        <a:rPr lang="en-US" sz="1100" b="1" spc="140" kern="0" dirty="0">
                          <a:solidFill>
                            <a:srgbClr val="FFFFFF"/>
                          </a:solidFill>
                          <a:latin typeface="Calibri" pitchFamily="34" charset="0"/>
                          <a:ea typeface="Calibri" pitchFamily="34" charset="-122"/>
                          <a:cs typeface="Calibri" pitchFamily="34" charset="-120"/>
                        </a:rPr>
                        <a:t>EPAR</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1F5B4E"/>
                    </a:solidFill>
                  </a:tcPr>
                </a:tc>
                <a:tc>
                  <a:txBody>
                    <a:bodyPr/>
                    <a:lstStyle/>
                    <a:p>
                      <a:pPr indent="0" marL="0">
                        <a:buNone/>
                      </a:pPr>
                      <a:r>
                        <a:rPr lang="en-US" sz="1100" b="1" spc="140" kern="0" dirty="0">
                          <a:solidFill>
                            <a:srgbClr val="FFFFFF"/>
                          </a:solidFill>
                          <a:latin typeface="Calibri" pitchFamily="34" charset="0"/>
                          <a:ea typeface="Calibri" pitchFamily="34" charset="-122"/>
                          <a:cs typeface="Calibri" pitchFamily="34" charset="-120"/>
                        </a:rPr>
                        <a:t>LITTLETON</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1F5B4E"/>
                    </a:solidFill>
                  </a:tcPr>
                </a:tc>
                <a:tc>
                  <a:txBody>
                    <a:bodyPr/>
                    <a:lstStyle/>
                    <a:p>
                      <a:pPr indent="0" marL="0">
                        <a:buNone/>
                      </a:pPr>
                      <a:r>
                        <a:rPr lang="en-US" sz="1100" b="1" spc="140" kern="0" dirty="0">
                          <a:solidFill>
                            <a:srgbClr val="FFFFFF"/>
                          </a:solidFill>
                          <a:latin typeface="Calibri" pitchFamily="34" charset="0"/>
                          <a:ea typeface="Calibri" pitchFamily="34" charset="-122"/>
                          <a:cs typeface="Calibri" pitchFamily="34" charset="-120"/>
                        </a:rPr>
                        <a:t>JULIA TEMPLE</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1F5B4E"/>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First impression</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Welcome book &amp; basket, IDT tuck-in, 72-hour standard, Saturday evals</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Welcome Wagon, gift, orientation, intro to every IDT leader</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Welcome bags</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Reputation / stars</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Google 3.8 → 4.0</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not addressed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3-star now; 4-star by Jan 2027 (stub)</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Expense control</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Vendor/supply audit + spend approval gate</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not addressed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not addressed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Culture / recognition</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Staffer incentive plan</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Little Wins, monthly IDT outing, monthly celebration</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Census incentives (DC planner, Admissions)</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Structural cost change</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Labs in-house 9/1 ($3–5K/mo); HSK 5 → 4</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Dollarized impact</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not quantified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i="1" dirty="0">
                          <a:solidFill>
                            <a:srgbClr val="A84A22"/>
                          </a:solidFill>
                          <a:latin typeface="Calibri" pitchFamily="34" charset="0"/>
                          <a:ea typeface="Calibri" pitchFamily="34" charset="-122"/>
                          <a:cs typeface="Calibri" pitchFamily="34" charset="-120"/>
                        </a:rPr>
                        <a:t>not quantified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$245K census + $15K OT + $14K BD</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6F8F7"/>
                    </a:solidFill>
                  </a:tcPr>
                </a:tc>
              </a:tr>
              <a:tr h="0">
                <a:tc>
                  <a:txBody>
                    <a:bodyPr/>
                    <a:lstStyle/>
                    <a:p>
                      <a:pPr indent="0" marL="0">
                        <a:buNone/>
                      </a:pPr>
                      <a:r>
                        <a:rPr lang="en-US" sz="1100" b="1" dirty="0">
                          <a:solidFill>
                            <a:srgbClr val="1E211D"/>
                          </a:solidFill>
                          <a:latin typeface="Calibri" pitchFamily="34" charset="0"/>
                          <a:ea typeface="Calibri" pitchFamily="34" charset="-122"/>
                          <a:cs typeface="Calibri" pitchFamily="34" charset="-120"/>
                        </a:rPr>
                        <a:t>Growth bet</a:t>
                      </a:r>
                      <a:endParaRPr lang="en-US" sz="110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Peritoneal dialysis clinic</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Admission response &lt;30 min</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c>
                  <a:txBody>
                    <a:bodyPr/>
                    <a:lstStyle/>
                    <a:p>
                      <a:pPr indent="0" marL="0">
                        <a:buNone/>
                      </a:pPr>
                      <a:r>
                        <a:rPr lang="en-US" sz="1050" dirty="0">
                          <a:solidFill>
                            <a:srgbClr val="3D423C"/>
                          </a:solidFill>
                          <a:latin typeface="Calibri" pitchFamily="34" charset="0"/>
                          <a:ea typeface="Calibri" pitchFamily="34" charset="-122"/>
                          <a:cs typeface="Calibri" pitchFamily="34" charset="-120"/>
                        </a:rPr>
                        <a:t>3 ALFs marketed per week</a:t>
                      </a:r>
                      <a:endParaRPr lang="en-US" sz="1050" dirty="0">
                        <a:latin typeface="Calibri" charset="0"/>
                        <a:ea typeface="Calibri" charset="0"/>
                        <a:cs typeface="Calibri" charset="0"/>
                      </a:endParaRPr>
                    </a:p>
                  </a:txBody>
                  <a:tcPr marL="114300" marR="114300" marT="88900" marB="88900" anchor="ctr">
                    <a:lnL w="6350" cap="flat" cmpd="sng" algn="ctr">
                      <a:solidFill>
                        <a:srgbClr val="E3E8E5"/>
                      </a:solidFill>
                      <a:prstDash val="solid"/>
                      <a:round/>
                      <a:headEnd type="none" w="med" len="med"/>
                      <a:tailEnd type="none" w="med" len="med"/>
                    </a:lnL>
                    <a:lnR w="6350" cap="flat" cmpd="sng" algn="ctr">
                      <a:solidFill>
                        <a:srgbClr val="E3E8E5"/>
                      </a:solidFill>
                      <a:prstDash val="solid"/>
                      <a:round/>
                      <a:headEnd type="none" w="med" len="med"/>
                      <a:tailEnd type="none" w="med" len="med"/>
                    </a:lnR>
                    <a:lnT w="6350" cap="flat" cmpd="sng" algn="ctr">
                      <a:solidFill>
                        <a:srgbClr val="E3E8E5"/>
                      </a:solidFill>
                      <a:prstDash val="solid"/>
                      <a:round/>
                      <a:headEnd type="none" w="med" len="med"/>
                      <a:tailEnd type="none" w="med" len="med"/>
                    </a:lnT>
                    <a:lnB w="6350" cap="flat" cmpd="sng" algn="ctr">
                      <a:solidFill>
                        <a:srgbClr val="E3E8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3D34"/>
        </a:solidFill>
      </p:bgPr>
    </p:bg>
    <p:spTree>
      <p:nvGrpSpPr>
        <p:cNvPr id="1" name=""/>
        <p:cNvGrpSpPr/>
        <p:nvPr/>
      </p:nvGrpSpPr>
      <p:grpSpPr>
        <a:xfrm>
          <a:off x="0" y="0"/>
          <a:ext cx="0" cy="0"/>
          <a:chOff x="0" y="0"/>
          <a:chExt cx="0" cy="0"/>
        </a:xfrm>
      </p:grpSpPr>
      <p:sp>
        <p:nvSpPr>
          <p:cNvPr id="2" name="Shape 0"/>
          <p:cNvSpPr/>
          <p:nvPr/>
        </p:nvSpPr>
        <p:spPr>
          <a:xfrm>
            <a:off x="8778240" y="1005840"/>
            <a:ext cx="4937760" cy="4937760"/>
          </a:xfrm>
          <a:prstGeom prst="ellipse">
            <a:avLst/>
          </a:prstGeom>
          <a:solidFill>
            <a:srgbClr val="1F5B4E">
              <a:alpha val="50000"/>
            </a:srgbClr>
          </a:solidFill>
          <a:ln w="12700">
            <a:solidFill>
              <a:srgbClr val="333333"/>
            </a:solidFill>
            <a:prstDash val="solid"/>
          </a:ln>
        </p:spPr>
      </p:sp>
      <p:sp>
        <p:nvSpPr>
          <p:cNvPr id="3" name="Text 1"/>
          <p:cNvSpPr/>
          <p:nvPr/>
        </p:nvSpPr>
        <p:spPr>
          <a:xfrm>
            <a:off x="594360" y="2331720"/>
            <a:ext cx="7315200" cy="292608"/>
          </a:xfrm>
          <a:prstGeom prst="rect">
            <a:avLst/>
          </a:prstGeom>
          <a:noFill/>
          <a:ln/>
        </p:spPr>
        <p:txBody>
          <a:bodyPr wrap="square" lIns="0" tIns="0" rIns="0" bIns="0" rtlCol="0" anchor="ctr"/>
          <a:lstStyle/>
          <a:p>
            <a:pPr indent="0" marL="0">
              <a:buNone/>
            </a:pPr>
            <a:r>
              <a:rPr lang="en-US" sz="1250" b="1" spc="300" kern="0" dirty="0">
                <a:solidFill>
                  <a:srgbClr val="6BB9A2"/>
                </a:solidFill>
                <a:latin typeface="Calibri" pitchFamily="34" charset="0"/>
                <a:ea typeface="Calibri" pitchFamily="34" charset="-122"/>
                <a:cs typeface="Calibri" pitchFamily="34" charset="-120"/>
              </a:rPr>
              <a:t>COMMON THREADS</a:t>
            </a:r>
            <a:endParaRPr lang="en-US" sz="1250" dirty="0"/>
          </a:p>
        </p:txBody>
      </p:sp>
      <p:sp>
        <p:nvSpPr>
          <p:cNvPr id="4" name="Text 2"/>
          <p:cNvSpPr/>
          <p:nvPr/>
        </p:nvSpPr>
        <p:spPr>
          <a:xfrm>
            <a:off x="594360" y="2697480"/>
            <a:ext cx="7863840" cy="146304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Four places to execute</a:t>
            </a:r>
            <a:endParaRPr lang="en-US" sz="4000" dirty="0"/>
          </a:p>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as one cluster</a:t>
            </a:r>
            <a:endParaRPr lang="en-US" sz="4000" dirty="0"/>
          </a:p>
        </p:txBody>
      </p:sp>
      <p:sp>
        <p:nvSpPr>
          <p:cNvPr id="5" name="Text 3"/>
          <p:cNvSpPr/>
          <p:nvPr/>
        </p:nvSpPr>
        <p:spPr>
          <a:xfrm>
            <a:off x="594360" y="4315968"/>
            <a:ext cx="7132320" cy="731520"/>
          </a:xfrm>
          <a:prstGeom prst="rect">
            <a:avLst/>
          </a:prstGeom>
          <a:noFill/>
          <a:ln/>
        </p:spPr>
        <p:txBody>
          <a:bodyPr wrap="square" lIns="0" tIns="0" rIns="0" bIns="0" rtlCol="0" anchor="ctr"/>
          <a:lstStyle/>
          <a:p>
            <a:pPr indent="0" marL="0">
              <a:lnSpc>
                <a:spcPts val="2100"/>
              </a:lnSpc>
              <a:buNone/>
            </a:pPr>
            <a:r>
              <a:rPr lang="en-US" sz="1400" dirty="0">
                <a:solidFill>
                  <a:srgbClr val="C9D6D0"/>
                </a:solidFill>
                <a:latin typeface="Calibri" pitchFamily="34" charset="0"/>
                <a:ea typeface="Calibri" pitchFamily="34" charset="-122"/>
                <a:cs typeface="Calibri" pitchFamily="34" charset="-120"/>
              </a:rPr>
              <a:t>Ranked by how much duplicated effort consolidation removes — and by how directly each one transfers to the building opening in October.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20624" cy="420624"/>
          </a:xfrm>
          <a:prstGeom prst="ellipse">
            <a:avLst/>
          </a:prstGeom>
          <a:solidFill>
            <a:srgbClr val="1F5B4E"/>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 name="Text 1"/>
          <p:cNvSpPr/>
          <p:nvPr/>
        </p:nvSpPr>
        <p:spPr>
          <a:xfrm>
            <a:off x="1161288" y="384048"/>
            <a:ext cx="5486400"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3 OF 3 BUILDINGS</a:t>
            </a:r>
            <a:endParaRPr lang="en-US" sz="1100" dirty="0"/>
          </a:p>
        </p:txBody>
      </p:sp>
      <p:sp>
        <p:nvSpPr>
          <p:cNvPr id="4" name="Text 2"/>
          <p:cNvSpPr/>
          <p:nvPr/>
        </p:nvSpPr>
        <p:spPr>
          <a:xfrm>
            <a:off x="594360" y="868680"/>
            <a:ext cx="11002975" cy="502920"/>
          </a:xfrm>
          <a:prstGeom prst="rect">
            <a:avLst/>
          </a:prstGeom>
          <a:noFill/>
          <a:ln/>
        </p:spPr>
        <p:txBody>
          <a:bodyPr wrap="square" lIns="0" tIns="0" rIns="0" bIns="0" rtlCol="0" anchor="t"/>
          <a:lstStyle/>
          <a:p>
            <a:pPr indent="0" marL="0">
              <a:buNone/>
            </a:pPr>
            <a:r>
              <a:rPr lang="en-US" sz="3000" b="1" dirty="0">
                <a:solidFill>
                  <a:srgbClr val="1E211D"/>
                </a:solidFill>
                <a:latin typeface="Cambria" pitchFamily="34" charset="0"/>
                <a:ea typeface="Cambria" pitchFamily="34" charset="-122"/>
                <a:cs typeface="Cambria" pitchFamily="34" charset="-120"/>
              </a:rPr>
              <a:t>The first 72 hours</a:t>
            </a:r>
            <a:endParaRPr lang="en-US" sz="3000" dirty="0"/>
          </a:p>
        </p:txBody>
      </p:sp>
      <p:sp>
        <p:nvSpPr>
          <p:cNvPr id="5" name="Text 3"/>
          <p:cNvSpPr/>
          <p:nvPr/>
        </p:nvSpPr>
        <p:spPr>
          <a:xfrm>
            <a:off x="594360" y="1463040"/>
            <a:ext cx="11002975" cy="658368"/>
          </a:xfrm>
          <a:prstGeom prst="rect">
            <a:avLst/>
          </a:prstGeom>
          <a:noFill/>
          <a:ln/>
        </p:spPr>
        <p:txBody>
          <a:bodyPr wrap="square" lIns="0" tIns="0" rIns="0" bIns="0" rtlCol="0" anchor="ctr"/>
          <a:lstStyle/>
          <a:p>
            <a:pPr indent="0" marL="0">
              <a:lnSpc>
                <a:spcPts val="1800"/>
              </a:lnSpc>
              <a:buNone/>
            </a:pPr>
            <a:r>
              <a:rPr lang="en-US" sz="1250" dirty="0">
                <a:solidFill>
                  <a:srgbClr val="3D423C"/>
                </a:solidFill>
                <a:latin typeface="Calibri" pitchFamily="34" charset="0"/>
                <a:ea typeface="Calibri" pitchFamily="34" charset="-122"/>
                <a:cs typeface="Calibri" pitchFamily="34" charset="-120"/>
              </a:rPr>
              <a:t>All three buildings independently invented a welcome program, at three levels of finish, on three separate budgets. The single most duplicated effort in the cluster — and the easiest to standardize, because none of it is building-specific.</a:t>
            </a:r>
            <a:endParaRPr lang="en-US" sz="1250" dirty="0"/>
          </a:p>
        </p:txBody>
      </p:sp>
      <p:sp>
        <p:nvSpPr>
          <p:cNvPr id="6" name="Shape 4"/>
          <p:cNvSpPr/>
          <p:nvPr/>
        </p:nvSpPr>
        <p:spPr>
          <a:xfrm>
            <a:off x="594360" y="2231136"/>
            <a:ext cx="3533546" cy="1810512"/>
          </a:xfrm>
          <a:prstGeom prst="roundRect">
            <a:avLst>
              <a:gd name="adj" fmla="val 3030"/>
            </a:avLst>
          </a:prstGeom>
          <a:solidFill>
            <a:srgbClr val="EEF1EF"/>
          </a:solidFill>
          <a:ln w="12700">
            <a:solidFill>
              <a:srgbClr val="EEF1EF"/>
            </a:solidFill>
            <a:prstDash val="solid"/>
          </a:ln>
        </p:spPr>
      </p:sp>
      <p:sp>
        <p:nvSpPr>
          <p:cNvPr id="7" name="Text 5"/>
          <p:cNvSpPr/>
          <p:nvPr/>
        </p:nvSpPr>
        <p:spPr>
          <a:xfrm>
            <a:off x="832104" y="2414016"/>
            <a:ext cx="3058058" cy="237744"/>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EPAR</a:t>
            </a:r>
            <a:endParaRPr lang="en-US" sz="950" dirty="0"/>
          </a:p>
        </p:txBody>
      </p:sp>
      <p:sp>
        <p:nvSpPr>
          <p:cNvPr id="8" name="Text 6"/>
          <p:cNvSpPr/>
          <p:nvPr/>
        </p:nvSpPr>
        <p:spPr>
          <a:xfrm>
            <a:off x="832104" y="2697480"/>
            <a:ext cx="3058058" cy="1207008"/>
          </a:xfrm>
          <a:prstGeom prst="rect">
            <a:avLst/>
          </a:prstGeom>
          <a:noFill/>
          <a:ln/>
        </p:spPr>
        <p:txBody>
          <a:bodyPr wrap="square" lIns="0" tIns="0" rIns="0" bIns="0" rtlCol="0" anchor="ctr"/>
          <a:lstStyle/>
          <a:p>
            <a:pPr indent="0" marL="0">
              <a:lnSpc>
                <a:spcPts val="1550"/>
              </a:lnSpc>
              <a:buNone/>
            </a:pPr>
            <a:r>
              <a:rPr lang="en-US" sz="1100" dirty="0">
                <a:solidFill>
                  <a:srgbClr val="3D423C"/>
                </a:solidFill>
                <a:latin typeface="Calibri" pitchFamily="34" charset="0"/>
                <a:ea typeface="Calibri" pitchFamily="34" charset="-122"/>
                <a:cs typeface="Calibri" pitchFamily="34" charset="-120"/>
              </a:rPr>
              <a:t>Welcome book and basket, room set up intentionally, IDT and nursing welcome, Saturday evals so Friday admissions get a real first impression.</a:t>
            </a:r>
            <a:endParaRPr lang="en-US" sz="1100" dirty="0"/>
          </a:p>
        </p:txBody>
      </p:sp>
      <p:sp>
        <p:nvSpPr>
          <p:cNvPr id="9" name="Shape 7"/>
          <p:cNvSpPr/>
          <p:nvPr/>
        </p:nvSpPr>
        <p:spPr>
          <a:xfrm>
            <a:off x="4329074" y="2231136"/>
            <a:ext cx="3533546" cy="1810512"/>
          </a:xfrm>
          <a:prstGeom prst="roundRect">
            <a:avLst>
              <a:gd name="adj" fmla="val 3030"/>
            </a:avLst>
          </a:prstGeom>
          <a:solidFill>
            <a:srgbClr val="EEF1EF"/>
          </a:solidFill>
          <a:ln w="12700">
            <a:solidFill>
              <a:srgbClr val="EEF1EF"/>
            </a:solidFill>
            <a:prstDash val="solid"/>
          </a:ln>
        </p:spPr>
      </p:sp>
      <p:sp>
        <p:nvSpPr>
          <p:cNvPr id="10" name="Text 8"/>
          <p:cNvSpPr/>
          <p:nvPr/>
        </p:nvSpPr>
        <p:spPr>
          <a:xfrm>
            <a:off x="4566818" y="2414016"/>
            <a:ext cx="3058058" cy="237744"/>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LITTLETON</a:t>
            </a:r>
            <a:endParaRPr lang="en-US" sz="950" dirty="0"/>
          </a:p>
        </p:txBody>
      </p:sp>
      <p:sp>
        <p:nvSpPr>
          <p:cNvPr id="11" name="Text 9"/>
          <p:cNvSpPr/>
          <p:nvPr/>
        </p:nvSpPr>
        <p:spPr>
          <a:xfrm>
            <a:off x="4566818" y="2697480"/>
            <a:ext cx="3058058" cy="1207008"/>
          </a:xfrm>
          <a:prstGeom prst="rect">
            <a:avLst/>
          </a:prstGeom>
          <a:noFill/>
          <a:ln/>
        </p:spPr>
        <p:txBody>
          <a:bodyPr wrap="square" lIns="0" tIns="0" rIns="0" bIns="0" rtlCol="0" anchor="ctr"/>
          <a:lstStyle/>
          <a:p>
            <a:pPr indent="0" marL="0">
              <a:lnSpc>
                <a:spcPts val="1550"/>
              </a:lnSpc>
              <a:buNone/>
            </a:pPr>
            <a:r>
              <a:rPr lang="en-US" sz="1100" dirty="0">
                <a:solidFill>
                  <a:srgbClr val="3D423C"/>
                </a:solidFill>
                <a:latin typeface="Calibri" pitchFamily="34" charset="0"/>
                <a:ea typeface="Calibri" pitchFamily="34" charset="-122"/>
                <a:cs typeface="Calibri" pitchFamily="34" charset="-120"/>
              </a:rPr>
              <a:t>Welcome Wagon on 100% of admissions, welcome gift, facility orientation, introduction to every IDT department leader.</a:t>
            </a:r>
            <a:endParaRPr lang="en-US" sz="1100" dirty="0"/>
          </a:p>
        </p:txBody>
      </p:sp>
      <p:sp>
        <p:nvSpPr>
          <p:cNvPr id="12" name="Shape 10"/>
          <p:cNvSpPr/>
          <p:nvPr/>
        </p:nvSpPr>
        <p:spPr>
          <a:xfrm>
            <a:off x="8063789" y="2231136"/>
            <a:ext cx="3533546" cy="1810512"/>
          </a:xfrm>
          <a:prstGeom prst="roundRect">
            <a:avLst>
              <a:gd name="adj" fmla="val 3030"/>
            </a:avLst>
          </a:prstGeom>
          <a:solidFill>
            <a:srgbClr val="EEF1EF"/>
          </a:solidFill>
          <a:ln w="12700">
            <a:solidFill>
              <a:srgbClr val="EEF1EF"/>
            </a:solidFill>
            <a:prstDash val="solid"/>
          </a:ln>
        </p:spPr>
      </p:sp>
      <p:sp>
        <p:nvSpPr>
          <p:cNvPr id="13" name="Text 11"/>
          <p:cNvSpPr/>
          <p:nvPr/>
        </p:nvSpPr>
        <p:spPr>
          <a:xfrm>
            <a:off x="8301533" y="2414016"/>
            <a:ext cx="3058058" cy="237744"/>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JULIA TEMPLE</a:t>
            </a:r>
            <a:endParaRPr lang="en-US" sz="950" dirty="0"/>
          </a:p>
        </p:txBody>
      </p:sp>
      <p:sp>
        <p:nvSpPr>
          <p:cNvPr id="14" name="Text 12"/>
          <p:cNvSpPr/>
          <p:nvPr/>
        </p:nvSpPr>
        <p:spPr>
          <a:xfrm>
            <a:off x="8301533" y="2697480"/>
            <a:ext cx="3058058" cy="1207008"/>
          </a:xfrm>
          <a:prstGeom prst="rect">
            <a:avLst/>
          </a:prstGeom>
          <a:noFill/>
          <a:ln/>
        </p:spPr>
        <p:txBody>
          <a:bodyPr wrap="square" lIns="0" tIns="0" rIns="0" bIns="0" rtlCol="0" anchor="ctr"/>
          <a:lstStyle/>
          <a:p>
            <a:pPr indent="0" marL="0">
              <a:lnSpc>
                <a:spcPts val="1550"/>
              </a:lnSpc>
              <a:buNone/>
            </a:pPr>
            <a:r>
              <a:rPr lang="en-US" sz="1100" dirty="0">
                <a:solidFill>
                  <a:srgbClr val="3D423C"/>
                </a:solidFill>
                <a:latin typeface="Calibri" pitchFamily="34" charset="0"/>
                <a:ea typeface="Calibri" pitchFamily="34" charset="-122"/>
                <a:cs typeface="Calibri" pitchFamily="34" charset="-120"/>
              </a:rPr>
              <a:t>Welcome bags — while planning to add 18 residents, the largest volume increase anywhere in the cluster.</a:t>
            </a:r>
            <a:endParaRPr lang="en-US" sz="1100" dirty="0"/>
          </a:p>
        </p:txBody>
      </p:sp>
      <p:sp>
        <p:nvSpPr>
          <p:cNvPr id="15" name="Shape 13"/>
          <p:cNvSpPr/>
          <p:nvPr/>
        </p:nvSpPr>
        <p:spPr>
          <a:xfrm>
            <a:off x="594360" y="4224528"/>
            <a:ext cx="11002975" cy="1719072"/>
          </a:xfrm>
          <a:prstGeom prst="roundRect">
            <a:avLst>
              <a:gd name="adj" fmla="val 3191"/>
            </a:avLst>
          </a:prstGeom>
          <a:solidFill>
            <a:srgbClr val="143D34"/>
          </a:solidFill>
          <a:ln w="12700">
            <a:solidFill>
              <a:srgbClr val="143D34"/>
            </a:solidFill>
            <a:prstDash val="solid"/>
          </a:ln>
        </p:spPr>
      </p:sp>
      <p:sp>
        <p:nvSpPr>
          <p:cNvPr id="16" name="Text 14"/>
          <p:cNvSpPr/>
          <p:nvPr/>
        </p:nvSpPr>
        <p:spPr>
          <a:xfrm>
            <a:off x="978408" y="4425696"/>
            <a:ext cx="2743200" cy="237744"/>
          </a:xfrm>
          <a:prstGeom prst="rect">
            <a:avLst/>
          </a:prstGeom>
          <a:noFill/>
          <a:ln/>
        </p:spPr>
        <p:txBody>
          <a:bodyPr wrap="square" lIns="0" tIns="0" rIns="0" bIns="0" rtlCol="0" anchor="ctr"/>
          <a:lstStyle/>
          <a:p>
            <a:pPr indent="0" marL="0">
              <a:buNone/>
            </a:pPr>
            <a:r>
              <a:rPr lang="en-US" sz="1050" b="1" spc="240" kern="0" dirty="0">
                <a:solidFill>
                  <a:srgbClr val="6BB9A2"/>
                </a:solidFill>
                <a:latin typeface="Calibri" pitchFamily="34" charset="0"/>
                <a:ea typeface="Calibri" pitchFamily="34" charset="-122"/>
                <a:cs typeface="Calibri" pitchFamily="34" charset="-120"/>
              </a:rPr>
              <a:t>THE MOVE</a:t>
            </a:r>
            <a:endParaRPr lang="en-US" sz="1050" dirty="0"/>
          </a:p>
        </p:txBody>
      </p:sp>
      <p:sp>
        <p:nvSpPr>
          <p:cNvPr id="17" name="Text 15"/>
          <p:cNvSpPr/>
          <p:nvPr/>
        </p:nvSpPr>
        <p:spPr>
          <a:xfrm>
            <a:off x="978408" y="4700016"/>
            <a:ext cx="10234879" cy="1060704"/>
          </a:xfrm>
          <a:prstGeom prst="rect">
            <a:avLst/>
          </a:prstGeom>
          <a:noFill/>
          <a:ln/>
        </p:spPr>
        <p:txBody>
          <a:bodyPr wrap="square" lIns="0" tIns="0" rIns="0" bIns="0" rtlCol="0" anchor="ctr"/>
          <a:lstStyle/>
          <a:p>
            <a:pPr indent="0" marL="0">
              <a:lnSpc>
                <a:spcPts val="1900"/>
              </a:lnSpc>
              <a:buNone/>
            </a:pPr>
            <a:r>
              <a:rPr lang="en-US" sz="1300" dirty="0">
                <a:solidFill>
                  <a:srgbClr val="DCE6E1"/>
                </a:solidFill>
                <a:latin typeface="Calibri" pitchFamily="34" charset="0"/>
                <a:ea typeface="Calibri" pitchFamily="34" charset="-122"/>
                <a:cs typeface="Calibri" pitchFamily="34" charset="-120"/>
              </a:rPr>
              <a:t>Build one Welcome Standard from EPAR's depth and Littleton's IDT-introduction structure, buy materials at cluster volume, and hand it to the October building complete on day one. EPAR owns the draft. EPAR's argument is also the one that funds it everywhere: this is a length-of-stay and day-1-to-3 discharge play, not a hospitality expense.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20624" cy="420624"/>
          </a:xfrm>
          <a:prstGeom prst="ellipse">
            <a:avLst/>
          </a:prstGeom>
          <a:solidFill>
            <a:srgbClr val="1F5B4E"/>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 name="Text 1"/>
          <p:cNvSpPr/>
          <p:nvPr/>
        </p:nvSpPr>
        <p:spPr>
          <a:xfrm>
            <a:off x="1161288" y="384048"/>
            <a:ext cx="5486400"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3 OF 3 BUILDINGS</a:t>
            </a:r>
            <a:endParaRPr lang="en-US" sz="1100" dirty="0"/>
          </a:p>
        </p:txBody>
      </p:sp>
      <p:sp>
        <p:nvSpPr>
          <p:cNvPr id="4" name="Text 2"/>
          <p:cNvSpPr/>
          <p:nvPr/>
        </p:nvSpPr>
        <p:spPr>
          <a:xfrm>
            <a:off x="594360" y="868680"/>
            <a:ext cx="11002975" cy="502920"/>
          </a:xfrm>
          <a:prstGeom prst="rect">
            <a:avLst/>
          </a:prstGeom>
          <a:noFill/>
          <a:ln/>
        </p:spPr>
        <p:txBody>
          <a:bodyPr wrap="square" lIns="0" tIns="0" rIns="0" bIns="0" rtlCol="0" anchor="t"/>
          <a:lstStyle/>
          <a:p>
            <a:pPr indent="0" marL="0">
              <a:buNone/>
            </a:pPr>
            <a:r>
              <a:rPr lang="en-US" sz="3000" b="1" dirty="0">
                <a:solidFill>
                  <a:srgbClr val="1E211D"/>
                </a:solidFill>
                <a:latin typeface="Cambria" pitchFamily="34" charset="0"/>
                <a:ea typeface="Cambria" pitchFamily="34" charset="-122"/>
                <a:cs typeface="Cambria" pitchFamily="34" charset="-120"/>
              </a:rPr>
              <a:t>100% cash, three different diseases</a:t>
            </a:r>
            <a:endParaRPr lang="en-US" sz="3000" dirty="0"/>
          </a:p>
        </p:txBody>
      </p:sp>
      <p:sp>
        <p:nvSpPr>
          <p:cNvPr id="5" name="Text 3"/>
          <p:cNvSpPr/>
          <p:nvPr/>
        </p:nvSpPr>
        <p:spPr>
          <a:xfrm>
            <a:off x="594360" y="1463040"/>
            <a:ext cx="11002975" cy="658368"/>
          </a:xfrm>
          <a:prstGeom prst="rect">
            <a:avLst/>
          </a:prstGeom>
          <a:noFill/>
          <a:ln/>
        </p:spPr>
        <p:txBody>
          <a:bodyPr wrap="square" lIns="0" tIns="0" rIns="0" bIns="0" rtlCol="0" anchor="ctr"/>
          <a:lstStyle/>
          <a:p>
            <a:pPr indent="0" marL="0">
              <a:lnSpc>
                <a:spcPts val="1800"/>
              </a:lnSpc>
              <a:buNone/>
            </a:pPr>
            <a:r>
              <a:rPr lang="en-US" sz="1250" dirty="0">
                <a:solidFill>
                  <a:srgbClr val="3D423C"/>
                </a:solidFill>
                <a:latin typeface="Calibri" pitchFamily="34" charset="0"/>
                <a:ea typeface="Calibri" pitchFamily="34" charset="-122"/>
                <a:cs typeface="Calibri" pitchFamily="34" charset="-120"/>
              </a:rPr>
              <a:t>Every plan names the identical target, and every plan already commits to a weekly A/R meeting. But the underlying problem is different in each building — which means the fix is shared expertise, not a shared push.</a:t>
            </a:r>
            <a:endParaRPr lang="en-US" sz="1250" dirty="0"/>
          </a:p>
        </p:txBody>
      </p:sp>
      <p:sp>
        <p:nvSpPr>
          <p:cNvPr id="6" name="Shape 4"/>
          <p:cNvSpPr/>
          <p:nvPr/>
        </p:nvSpPr>
        <p:spPr>
          <a:xfrm>
            <a:off x="594360" y="2231136"/>
            <a:ext cx="3533546" cy="1810512"/>
          </a:xfrm>
          <a:prstGeom prst="roundRect">
            <a:avLst>
              <a:gd name="adj" fmla="val 3030"/>
            </a:avLst>
          </a:prstGeom>
          <a:solidFill>
            <a:srgbClr val="EEF1EF"/>
          </a:solidFill>
          <a:ln w="12700">
            <a:solidFill>
              <a:srgbClr val="EEF1EF"/>
            </a:solidFill>
            <a:prstDash val="solid"/>
          </a:ln>
        </p:spPr>
      </p:sp>
      <p:sp>
        <p:nvSpPr>
          <p:cNvPr id="7" name="Text 5"/>
          <p:cNvSpPr/>
          <p:nvPr/>
        </p:nvSpPr>
        <p:spPr>
          <a:xfrm>
            <a:off x="832104" y="2414016"/>
            <a:ext cx="3058058" cy="237744"/>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LITTLETON — VOLATILITY</a:t>
            </a:r>
            <a:endParaRPr lang="en-US" sz="950" dirty="0"/>
          </a:p>
        </p:txBody>
      </p:sp>
      <p:sp>
        <p:nvSpPr>
          <p:cNvPr id="8" name="Text 6"/>
          <p:cNvSpPr/>
          <p:nvPr/>
        </p:nvSpPr>
        <p:spPr>
          <a:xfrm>
            <a:off x="832104" y="2697480"/>
            <a:ext cx="3058058" cy="1207008"/>
          </a:xfrm>
          <a:prstGeom prst="rect">
            <a:avLst/>
          </a:prstGeom>
          <a:noFill/>
          <a:ln/>
        </p:spPr>
        <p:txBody>
          <a:bodyPr wrap="square" lIns="0" tIns="0" rIns="0" bIns="0" rtlCol="0" anchor="ctr"/>
          <a:lstStyle/>
          <a:p>
            <a:pPr indent="0" marL="0">
              <a:lnSpc>
                <a:spcPts val="1550"/>
              </a:lnSpc>
              <a:buNone/>
            </a:pPr>
            <a:r>
              <a:rPr lang="en-US" sz="1100" dirty="0">
                <a:solidFill>
                  <a:srgbClr val="3D423C"/>
                </a:solidFill>
                <a:latin typeface="Calibri" pitchFamily="34" charset="0"/>
                <a:ea typeface="Calibri" pitchFamily="34" charset="-122"/>
                <a:cs typeface="Calibri" pitchFamily="34" charset="-120"/>
              </a:rPr>
              <a:t>Six-month average 94%, but the range runs 78% to 109%. The problem is consistency, not effort.</a:t>
            </a:r>
            <a:endParaRPr lang="en-US" sz="1100" dirty="0"/>
          </a:p>
        </p:txBody>
      </p:sp>
      <p:sp>
        <p:nvSpPr>
          <p:cNvPr id="9" name="Shape 7"/>
          <p:cNvSpPr/>
          <p:nvPr/>
        </p:nvSpPr>
        <p:spPr>
          <a:xfrm>
            <a:off x="4329074" y="2231136"/>
            <a:ext cx="3533546" cy="1810512"/>
          </a:xfrm>
          <a:prstGeom prst="roundRect">
            <a:avLst>
              <a:gd name="adj" fmla="val 3030"/>
            </a:avLst>
          </a:prstGeom>
          <a:solidFill>
            <a:srgbClr val="EEF1EF"/>
          </a:solidFill>
          <a:ln w="12700">
            <a:solidFill>
              <a:srgbClr val="EEF1EF"/>
            </a:solidFill>
            <a:prstDash val="solid"/>
          </a:ln>
        </p:spPr>
      </p:sp>
      <p:sp>
        <p:nvSpPr>
          <p:cNvPr id="10" name="Text 8"/>
          <p:cNvSpPr/>
          <p:nvPr/>
        </p:nvSpPr>
        <p:spPr>
          <a:xfrm>
            <a:off x="4566818" y="2414016"/>
            <a:ext cx="3058058" cy="237744"/>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JULIA TEMPLE — MED PENDING</a:t>
            </a:r>
            <a:endParaRPr lang="en-US" sz="950" dirty="0"/>
          </a:p>
        </p:txBody>
      </p:sp>
      <p:sp>
        <p:nvSpPr>
          <p:cNvPr id="11" name="Text 9"/>
          <p:cNvSpPr/>
          <p:nvPr/>
        </p:nvSpPr>
        <p:spPr>
          <a:xfrm>
            <a:off x="4566818" y="2697480"/>
            <a:ext cx="3058058" cy="1207008"/>
          </a:xfrm>
          <a:prstGeom prst="rect">
            <a:avLst/>
          </a:prstGeom>
          <a:noFill/>
          <a:ln/>
        </p:spPr>
        <p:txBody>
          <a:bodyPr wrap="square" lIns="0" tIns="0" rIns="0" bIns="0" rtlCol="0" anchor="ctr"/>
          <a:lstStyle/>
          <a:p>
            <a:pPr indent="0" marL="0">
              <a:lnSpc>
                <a:spcPts val="1550"/>
              </a:lnSpc>
              <a:buNone/>
            </a:pPr>
            <a:r>
              <a:rPr lang="en-US" sz="1100" dirty="0">
                <a:solidFill>
                  <a:srgbClr val="3D423C"/>
                </a:solidFill>
                <a:latin typeface="Calibri" pitchFamily="34" charset="0"/>
                <a:ea typeface="Calibri" pitchFamily="34" charset="-122"/>
                <a:cs typeface="Calibri" pitchFamily="34" charset="-120"/>
              </a:rPr>
              <a:t>Bad debt up from a 1.08% annual average to 2.05% over three months, driven by pending volume and slow approvals.</a:t>
            </a:r>
            <a:endParaRPr lang="en-US" sz="1100" dirty="0"/>
          </a:p>
        </p:txBody>
      </p:sp>
      <p:sp>
        <p:nvSpPr>
          <p:cNvPr id="12" name="Shape 10"/>
          <p:cNvSpPr/>
          <p:nvPr/>
        </p:nvSpPr>
        <p:spPr>
          <a:xfrm>
            <a:off x="8063789" y="2231136"/>
            <a:ext cx="3533546" cy="1810512"/>
          </a:xfrm>
          <a:prstGeom prst="roundRect">
            <a:avLst>
              <a:gd name="adj" fmla="val 3030"/>
            </a:avLst>
          </a:prstGeom>
          <a:solidFill>
            <a:srgbClr val="EEF1EF"/>
          </a:solidFill>
          <a:ln w="12700">
            <a:solidFill>
              <a:srgbClr val="EEF1EF"/>
            </a:solidFill>
            <a:prstDash val="solid"/>
          </a:ln>
        </p:spPr>
      </p:sp>
      <p:sp>
        <p:nvSpPr>
          <p:cNvPr id="13" name="Text 11"/>
          <p:cNvSpPr/>
          <p:nvPr/>
        </p:nvSpPr>
        <p:spPr>
          <a:xfrm>
            <a:off x="8301533" y="2414016"/>
            <a:ext cx="3058058" cy="237744"/>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EPAR — ALREADY RESOURCED</a:t>
            </a:r>
            <a:endParaRPr lang="en-US" sz="950" dirty="0"/>
          </a:p>
        </p:txBody>
      </p:sp>
      <p:sp>
        <p:nvSpPr>
          <p:cNvPr id="14" name="Text 12"/>
          <p:cNvSpPr/>
          <p:nvPr/>
        </p:nvSpPr>
        <p:spPr>
          <a:xfrm>
            <a:off x="8301533" y="2697480"/>
            <a:ext cx="3058058" cy="1207008"/>
          </a:xfrm>
          <a:prstGeom prst="rect">
            <a:avLst/>
          </a:prstGeom>
          <a:noFill/>
          <a:ln/>
        </p:spPr>
        <p:txBody>
          <a:bodyPr wrap="square" lIns="0" tIns="0" rIns="0" bIns="0" rtlCol="0" anchor="ctr"/>
          <a:lstStyle/>
          <a:p>
            <a:pPr indent="0" marL="0">
              <a:lnSpc>
                <a:spcPts val="1550"/>
              </a:lnSpc>
              <a:buNone/>
            </a:pPr>
            <a:r>
              <a:rPr lang="en-US" sz="1100" dirty="0">
                <a:solidFill>
                  <a:srgbClr val="3D423C"/>
                </a:solidFill>
                <a:latin typeface="Calibri" pitchFamily="34" charset="0"/>
                <a:ea typeface="Calibri" pitchFamily="34" charset="-122"/>
                <a:cs typeface="Calibri" pitchFamily="34" charset="-120"/>
              </a:rPr>
              <a:t>Owner, next step, due date and escalation on every at-risk account, plus outside billing help three days a week on allowables and denials.</a:t>
            </a:r>
            <a:endParaRPr lang="en-US" sz="1100" dirty="0"/>
          </a:p>
        </p:txBody>
      </p:sp>
      <p:sp>
        <p:nvSpPr>
          <p:cNvPr id="15" name="Shape 13"/>
          <p:cNvSpPr/>
          <p:nvPr/>
        </p:nvSpPr>
        <p:spPr>
          <a:xfrm>
            <a:off x="594360" y="4224528"/>
            <a:ext cx="11002975" cy="1719072"/>
          </a:xfrm>
          <a:prstGeom prst="roundRect">
            <a:avLst>
              <a:gd name="adj" fmla="val 3191"/>
            </a:avLst>
          </a:prstGeom>
          <a:solidFill>
            <a:srgbClr val="143D34"/>
          </a:solidFill>
          <a:ln w="12700">
            <a:solidFill>
              <a:srgbClr val="143D34"/>
            </a:solidFill>
            <a:prstDash val="solid"/>
          </a:ln>
        </p:spPr>
      </p:sp>
      <p:sp>
        <p:nvSpPr>
          <p:cNvPr id="16" name="Text 14"/>
          <p:cNvSpPr/>
          <p:nvPr/>
        </p:nvSpPr>
        <p:spPr>
          <a:xfrm>
            <a:off x="978408" y="4425696"/>
            <a:ext cx="2743200" cy="237744"/>
          </a:xfrm>
          <a:prstGeom prst="rect">
            <a:avLst/>
          </a:prstGeom>
          <a:noFill/>
          <a:ln/>
        </p:spPr>
        <p:txBody>
          <a:bodyPr wrap="square" lIns="0" tIns="0" rIns="0" bIns="0" rtlCol="0" anchor="ctr"/>
          <a:lstStyle/>
          <a:p>
            <a:pPr indent="0" marL="0">
              <a:buNone/>
            </a:pPr>
            <a:r>
              <a:rPr lang="en-US" sz="1050" b="1" spc="240" kern="0" dirty="0">
                <a:solidFill>
                  <a:srgbClr val="6BB9A2"/>
                </a:solidFill>
                <a:latin typeface="Calibri" pitchFamily="34" charset="0"/>
                <a:ea typeface="Calibri" pitchFamily="34" charset="-122"/>
                <a:cs typeface="Calibri" pitchFamily="34" charset="-120"/>
              </a:rPr>
              <a:t>THE MOVE</a:t>
            </a:r>
            <a:endParaRPr lang="en-US" sz="1050" dirty="0"/>
          </a:p>
        </p:txBody>
      </p:sp>
      <p:sp>
        <p:nvSpPr>
          <p:cNvPr id="17" name="Text 15"/>
          <p:cNvSpPr/>
          <p:nvPr/>
        </p:nvSpPr>
        <p:spPr>
          <a:xfrm>
            <a:off x="978408" y="4700016"/>
            <a:ext cx="10234879" cy="1060704"/>
          </a:xfrm>
          <a:prstGeom prst="rect">
            <a:avLst/>
          </a:prstGeom>
          <a:noFill/>
          <a:ln/>
        </p:spPr>
        <p:txBody>
          <a:bodyPr wrap="square" lIns="0" tIns="0" rIns="0" bIns="0" rtlCol="0" anchor="ctr"/>
          <a:lstStyle/>
          <a:p>
            <a:pPr indent="0" marL="0">
              <a:lnSpc>
                <a:spcPts val="1900"/>
              </a:lnSpc>
              <a:buNone/>
            </a:pPr>
            <a:r>
              <a:rPr lang="en-US" sz="1300" dirty="0">
                <a:solidFill>
                  <a:srgbClr val="DCE6E1"/>
                </a:solidFill>
                <a:latin typeface="Calibri" pitchFamily="34" charset="0"/>
                <a:ea typeface="Calibri" pitchFamily="34" charset="-122"/>
                <a:cs typeface="Calibri" pitchFamily="34" charset="-120"/>
              </a:rPr>
              <a:t>Adopt EPAR's account-level discipline as the cluster A/R agenda — nothing sits without an owner and a date. Then point EPAR's outside billing expertise at Julia Temple's Medicaid Pending backlog: that match already exists inside the cluster. Escalate the approval delay as three buildings, not one.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20624" cy="420624"/>
          </a:xfrm>
          <a:prstGeom prst="ellipse">
            <a:avLst/>
          </a:prstGeom>
          <a:solidFill>
            <a:srgbClr val="1F5B4E"/>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 name="Text 1"/>
          <p:cNvSpPr/>
          <p:nvPr/>
        </p:nvSpPr>
        <p:spPr>
          <a:xfrm>
            <a:off x="1161288" y="384048"/>
            <a:ext cx="5486400"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3 OF 3 BUILDINGS</a:t>
            </a:r>
            <a:endParaRPr lang="en-US" sz="1100" dirty="0"/>
          </a:p>
        </p:txBody>
      </p:sp>
      <p:sp>
        <p:nvSpPr>
          <p:cNvPr id="4" name="Text 2"/>
          <p:cNvSpPr/>
          <p:nvPr/>
        </p:nvSpPr>
        <p:spPr>
          <a:xfrm>
            <a:off x="594360" y="868680"/>
            <a:ext cx="11002975" cy="502920"/>
          </a:xfrm>
          <a:prstGeom prst="rect">
            <a:avLst/>
          </a:prstGeom>
          <a:noFill/>
          <a:ln/>
        </p:spPr>
        <p:txBody>
          <a:bodyPr wrap="square" lIns="0" tIns="0" rIns="0" bIns="0" rtlCol="0" anchor="ctr"/>
          <a:lstStyle/>
          <a:p>
            <a:pPr indent="0" marL="0">
              <a:buNone/>
            </a:pPr>
            <a:r>
              <a:rPr lang="en-US" sz="3000" b="1" dirty="0">
                <a:solidFill>
                  <a:srgbClr val="1E211D"/>
                </a:solidFill>
                <a:latin typeface="Cambria" pitchFamily="34" charset="0"/>
                <a:ea typeface="Cambria" pitchFamily="34" charset="-122"/>
                <a:cs typeface="Cambria" pitchFamily="34" charset="-120"/>
              </a:rPr>
              <a:t>Fourteen open positions, one pipeline</a:t>
            </a:r>
            <a:endParaRPr lang="en-US" sz="3000" dirty="0"/>
          </a:p>
        </p:txBody>
      </p:sp>
      <p:sp>
        <p:nvSpPr>
          <p:cNvPr id="5" name="Text 3"/>
          <p:cNvSpPr/>
          <p:nvPr/>
        </p:nvSpPr>
        <p:spPr>
          <a:xfrm>
            <a:off x="594360" y="1463040"/>
            <a:ext cx="11002975" cy="548640"/>
          </a:xfrm>
          <a:prstGeom prst="rect">
            <a:avLst/>
          </a:prstGeom>
          <a:noFill/>
          <a:ln/>
        </p:spPr>
        <p:txBody>
          <a:bodyPr wrap="square" lIns="0" tIns="0" rIns="0" bIns="0" rtlCol="0" anchor="ctr"/>
          <a:lstStyle/>
          <a:p>
            <a:pPr indent="0" marL="0">
              <a:lnSpc>
                <a:spcPts val="1800"/>
              </a:lnSpc>
              <a:buNone/>
            </a:pPr>
            <a:r>
              <a:rPr lang="en-US" sz="1250" dirty="0">
                <a:solidFill>
                  <a:srgbClr val="3D423C"/>
                </a:solidFill>
                <a:latin typeface="Calibri" pitchFamily="34" charset="0"/>
                <a:ea typeface="Calibri" pitchFamily="34" charset="-122"/>
                <a:cs typeface="Calibri" pitchFamily="34" charset="-120"/>
              </a:rPr>
              <a:t>Overtime at Julia Temple, overtime and missed lunches at EPAR, agency and turnover at Littleton — three symptoms of one disease. The hiring needs are complementary rather than competing.</a:t>
            </a:r>
            <a:endParaRPr lang="en-US" sz="1250" dirty="0"/>
          </a:p>
        </p:txBody>
      </p:sp>
      <p:sp>
        <p:nvSpPr>
          <p:cNvPr id="6" name="Shape 4"/>
          <p:cNvSpPr/>
          <p:nvPr/>
        </p:nvSpPr>
        <p:spPr>
          <a:xfrm>
            <a:off x="594360" y="2103120"/>
            <a:ext cx="5257800" cy="2011680"/>
          </a:xfrm>
          <a:prstGeom prst="roundRect">
            <a:avLst>
              <a:gd name="adj" fmla="val 2727"/>
            </a:avLst>
          </a:prstGeom>
          <a:solidFill>
            <a:srgbClr val="EEF1EF"/>
          </a:solidFill>
          <a:ln w="12700">
            <a:solidFill>
              <a:srgbClr val="EEF1EF"/>
            </a:solidFill>
            <a:prstDash val="solid"/>
          </a:ln>
        </p:spPr>
      </p:sp>
      <p:graphicFrame>
        <p:nvGraphicFramePr>
          <p:cNvPr id="7" name="Chart 0" descr=""/>
          <p:cNvGraphicFramePr/>
          <p:nvPr/>
        </p:nvGraphicFramePr>
        <p:xfrm>
          <a:off x="685800" y="2176272"/>
          <a:ext cx="5074920" cy="1865376"/>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144768" y="2103120"/>
            <a:ext cx="5449824" cy="219456"/>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COMBINED OPEN REQS</a:t>
            </a:r>
            <a:endParaRPr lang="en-US" sz="950" dirty="0"/>
          </a:p>
        </p:txBody>
      </p:sp>
      <p:sp>
        <p:nvSpPr>
          <p:cNvPr id="9" name="Text 6"/>
          <p:cNvSpPr/>
          <p:nvPr/>
        </p:nvSpPr>
        <p:spPr>
          <a:xfrm>
            <a:off x="6144768" y="2322576"/>
            <a:ext cx="5449824" cy="420624"/>
          </a:xfrm>
          <a:prstGeom prst="rect">
            <a:avLst/>
          </a:prstGeom>
          <a:noFill/>
          <a:ln/>
        </p:spPr>
        <p:txBody>
          <a:bodyPr wrap="square" lIns="0" tIns="0" rIns="0" bIns="0" rtlCol="0" anchor="ctr"/>
          <a:lstStyle/>
          <a:p>
            <a:pPr indent="0" marL="0">
              <a:lnSpc>
                <a:spcPts val="1500"/>
              </a:lnSpc>
              <a:buNone/>
            </a:pPr>
            <a:r>
              <a:rPr lang="en-US" sz="1100" dirty="0">
                <a:solidFill>
                  <a:srgbClr val="3D423C"/>
                </a:solidFill>
                <a:latin typeface="Calibri" pitchFamily="34" charset="0"/>
                <a:ea typeface="Calibri" pitchFamily="34" charset="-122"/>
                <a:cs typeface="Calibri" pitchFamily="34" charset="-120"/>
              </a:rPr>
              <a:t>4 licensed and 10 CNA positions across Littleton and Julia Temple. EPAR states none.</a:t>
            </a:r>
            <a:endParaRPr lang="en-US" sz="1100" dirty="0"/>
          </a:p>
        </p:txBody>
      </p:sp>
      <p:sp>
        <p:nvSpPr>
          <p:cNvPr id="10" name="Text 7"/>
          <p:cNvSpPr/>
          <p:nvPr/>
        </p:nvSpPr>
        <p:spPr>
          <a:xfrm>
            <a:off x="6144768" y="2798064"/>
            <a:ext cx="5449824" cy="219456"/>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THE EXPENSIVE ONE</a:t>
            </a:r>
            <a:endParaRPr lang="en-US" sz="950" dirty="0"/>
          </a:p>
        </p:txBody>
      </p:sp>
      <p:sp>
        <p:nvSpPr>
          <p:cNvPr id="11" name="Text 8"/>
          <p:cNvSpPr/>
          <p:nvPr/>
        </p:nvSpPr>
        <p:spPr>
          <a:xfrm>
            <a:off x="6144768" y="3017520"/>
            <a:ext cx="5449824" cy="420624"/>
          </a:xfrm>
          <a:prstGeom prst="rect">
            <a:avLst/>
          </a:prstGeom>
          <a:noFill/>
          <a:ln/>
        </p:spPr>
        <p:txBody>
          <a:bodyPr wrap="square" lIns="0" tIns="0" rIns="0" bIns="0" rtlCol="0" anchor="ctr"/>
          <a:lstStyle/>
          <a:p>
            <a:pPr indent="0" marL="0">
              <a:lnSpc>
                <a:spcPts val="1500"/>
              </a:lnSpc>
              <a:buNone/>
            </a:pPr>
            <a:r>
              <a:rPr lang="en-US" sz="1100" dirty="0">
                <a:solidFill>
                  <a:srgbClr val="3D423C"/>
                </a:solidFill>
                <a:latin typeface="Calibri" pitchFamily="34" charset="0"/>
                <a:ea typeface="Calibri" pitchFamily="34" charset="-122"/>
                <a:cs typeface="Calibri" pitchFamily="34" charset="-120"/>
              </a:rPr>
              <a:t>Littleton's agency at $17 WPPD is the cluster's largest controllable line — and 61% turnover is its root cause.</a:t>
            </a:r>
            <a:endParaRPr lang="en-US" sz="1100" dirty="0"/>
          </a:p>
        </p:txBody>
      </p:sp>
      <p:sp>
        <p:nvSpPr>
          <p:cNvPr id="12" name="Text 9"/>
          <p:cNvSpPr/>
          <p:nvPr/>
        </p:nvSpPr>
        <p:spPr>
          <a:xfrm>
            <a:off x="6144768" y="3493008"/>
            <a:ext cx="5449824" cy="219456"/>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THE DAILY DISCIPLINE</a:t>
            </a:r>
            <a:endParaRPr lang="en-US" sz="950" dirty="0"/>
          </a:p>
        </p:txBody>
      </p:sp>
      <p:sp>
        <p:nvSpPr>
          <p:cNvPr id="13" name="Text 10"/>
          <p:cNvSpPr/>
          <p:nvPr/>
        </p:nvSpPr>
        <p:spPr>
          <a:xfrm>
            <a:off x="6144768" y="3712464"/>
            <a:ext cx="5449824" cy="420624"/>
          </a:xfrm>
          <a:prstGeom prst="rect">
            <a:avLst/>
          </a:prstGeom>
          <a:noFill/>
          <a:ln/>
        </p:spPr>
        <p:txBody>
          <a:bodyPr wrap="square" lIns="0" tIns="0" rIns="0" bIns="0" rtlCol="0" anchor="ctr"/>
          <a:lstStyle/>
          <a:p>
            <a:pPr indent="0" marL="0">
              <a:lnSpc>
                <a:spcPts val="1500"/>
              </a:lnSpc>
              <a:buNone/>
            </a:pPr>
            <a:r>
              <a:rPr lang="en-US" sz="1100" dirty="0">
                <a:solidFill>
                  <a:srgbClr val="3D423C"/>
                </a:solidFill>
                <a:latin typeface="Calibri" pitchFamily="34" charset="0"/>
                <a:ea typeface="Calibri" pitchFamily="34" charset="-122"/>
                <a:cs typeface="Calibri" pitchFamily="34" charset="-120"/>
              </a:rPr>
              <a:t>EPAR manages labor every shift rather than at payroll close: OT, missed lunches, call-offs, PPD and flex.</a:t>
            </a:r>
            <a:endParaRPr lang="en-US" sz="1100" dirty="0"/>
          </a:p>
        </p:txBody>
      </p:sp>
      <p:sp>
        <p:nvSpPr>
          <p:cNvPr id="14" name="Shape 11"/>
          <p:cNvSpPr/>
          <p:nvPr/>
        </p:nvSpPr>
        <p:spPr>
          <a:xfrm>
            <a:off x="594360" y="4224528"/>
            <a:ext cx="11002975" cy="1719072"/>
          </a:xfrm>
          <a:prstGeom prst="roundRect">
            <a:avLst>
              <a:gd name="adj" fmla="val 3191"/>
            </a:avLst>
          </a:prstGeom>
          <a:solidFill>
            <a:srgbClr val="143D34"/>
          </a:solidFill>
          <a:ln w="12700">
            <a:solidFill>
              <a:srgbClr val="143D34"/>
            </a:solidFill>
            <a:prstDash val="solid"/>
          </a:ln>
        </p:spPr>
      </p:sp>
      <p:sp>
        <p:nvSpPr>
          <p:cNvPr id="15" name="Text 12"/>
          <p:cNvSpPr/>
          <p:nvPr/>
        </p:nvSpPr>
        <p:spPr>
          <a:xfrm>
            <a:off x="978408" y="4425696"/>
            <a:ext cx="2743200" cy="237744"/>
          </a:xfrm>
          <a:prstGeom prst="rect">
            <a:avLst/>
          </a:prstGeom>
          <a:noFill/>
          <a:ln/>
        </p:spPr>
        <p:txBody>
          <a:bodyPr wrap="square" lIns="0" tIns="0" rIns="0" bIns="0" rtlCol="0" anchor="ctr"/>
          <a:lstStyle/>
          <a:p>
            <a:pPr indent="0" marL="0">
              <a:buNone/>
            </a:pPr>
            <a:r>
              <a:rPr lang="en-US" sz="1050" b="1" spc="240" kern="0" dirty="0">
                <a:solidFill>
                  <a:srgbClr val="6BB9A2"/>
                </a:solidFill>
                <a:latin typeface="Calibri" pitchFamily="34" charset="0"/>
                <a:ea typeface="Calibri" pitchFamily="34" charset="-122"/>
                <a:cs typeface="Calibri" pitchFamily="34" charset="-120"/>
              </a:rPr>
              <a:t>THE MOVE</a:t>
            </a:r>
            <a:endParaRPr lang="en-US" sz="1050" dirty="0"/>
          </a:p>
        </p:txBody>
      </p:sp>
      <p:sp>
        <p:nvSpPr>
          <p:cNvPr id="16" name="Text 13"/>
          <p:cNvSpPr/>
          <p:nvPr/>
        </p:nvSpPr>
        <p:spPr>
          <a:xfrm>
            <a:off x="978408" y="4700016"/>
            <a:ext cx="10234879" cy="1060704"/>
          </a:xfrm>
          <a:prstGeom prst="rect">
            <a:avLst/>
          </a:prstGeom>
          <a:noFill/>
          <a:ln/>
        </p:spPr>
        <p:txBody>
          <a:bodyPr wrap="square" lIns="0" tIns="0" rIns="0" bIns="0" rtlCol="0" anchor="ctr"/>
          <a:lstStyle/>
          <a:p>
            <a:pPr indent="0" marL="0">
              <a:lnSpc>
                <a:spcPts val="1900"/>
              </a:lnSpc>
              <a:buNone/>
            </a:pPr>
            <a:r>
              <a:rPr lang="en-US" sz="1300" dirty="0">
                <a:solidFill>
                  <a:srgbClr val="DCE6E1"/>
                </a:solidFill>
                <a:latin typeface="Calibri" pitchFamily="34" charset="0"/>
                <a:ea typeface="Calibri" pitchFamily="34" charset="-122"/>
                <a:cs typeface="Calibri" pitchFamily="34" charset="-120"/>
              </a:rPr>
              <a:t>One recruiting push against all fourteen positions: one posting, one interview day, one candidate pool, and a shared PRN float list so a strong candidate who doesn't fit one building lands at another instead of being lost. Adopt Littleton's onboarding structure as the cluster standard — it is the only retention machinery anyone has built.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20624" cy="420624"/>
          </a:xfrm>
          <a:prstGeom prst="ellipse">
            <a:avLst/>
          </a:prstGeom>
          <a:solidFill>
            <a:srgbClr val="1F5B4E"/>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 name="Text 1"/>
          <p:cNvSpPr/>
          <p:nvPr/>
        </p:nvSpPr>
        <p:spPr>
          <a:xfrm>
            <a:off x="1161288" y="384048"/>
            <a:ext cx="5486400"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IMPLICIT IN ALL 3</a:t>
            </a:r>
            <a:endParaRPr lang="en-US" sz="1100" dirty="0"/>
          </a:p>
        </p:txBody>
      </p:sp>
      <p:sp>
        <p:nvSpPr>
          <p:cNvPr id="4" name="Text 2"/>
          <p:cNvSpPr/>
          <p:nvPr/>
        </p:nvSpPr>
        <p:spPr>
          <a:xfrm>
            <a:off x="594360" y="868680"/>
            <a:ext cx="11002975" cy="502920"/>
          </a:xfrm>
          <a:prstGeom prst="rect">
            <a:avLst/>
          </a:prstGeom>
          <a:noFill/>
          <a:ln/>
        </p:spPr>
        <p:txBody>
          <a:bodyPr wrap="square" lIns="0" tIns="0" rIns="0" bIns="0" rtlCol="0" anchor="t"/>
          <a:lstStyle/>
          <a:p>
            <a:pPr indent="0" marL="0">
              <a:buNone/>
            </a:pPr>
            <a:r>
              <a:rPr lang="en-US" sz="3000" b="1" dirty="0">
                <a:solidFill>
                  <a:srgbClr val="1E211D"/>
                </a:solidFill>
                <a:latin typeface="Cambria" pitchFamily="34" charset="0"/>
                <a:ea typeface="Cambria" pitchFamily="34" charset="-122"/>
                <a:cs typeface="Cambria" pitchFamily="34" charset="-120"/>
              </a:rPr>
              <a:t>A shared operating rhythm</a:t>
            </a:r>
            <a:endParaRPr lang="en-US" sz="3000" dirty="0"/>
          </a:p>
        </p:txBody>
      </p:sp>
      <p:sp>
        <p:nvSpPr>
          <p:cNvPr id="5" name="Text 3"/>
          <p:cNvSpPr/>
          <p:nvPr/>
        </p:nvSpPr>
        <p:spPr>
          <a:xfrm>
            <a:off x="594360" y="1463040"/>
            <a:ext cx="11002975" cy="658368"/>
          </a:xfrm>
          <a:prstGeom prst="rect">
            <a:avLst/>
          </a:prstGeom>
          <a:noFill/>
          <a:ln/>
        </p:spPr>
        <p:txBody>
          <a:bodyPr wrap="square" lIns="0" tIns="0" rIns="0" bIns="0" rtlCol="0" anchor="ctr"/>
          <a:lstStyle/>
          <a:p>
            <a:pPr indent="0" marL="0">
              <a:lnSpc>
                <a:spcPts val="1800"/>
              </a:lnSpc>
              <a:buNone/>
            </a:pPr>
            <a:r>
              <a:rPr lang="en-US" sz="1250" dirty="0">
                <a:solidFill>
                  <a:srgbClr val="3D423C"/>
                </a:solidFill>
                <a:latin typeface="Calibri" pitchFamily="34" charset="0"/>
                <a:ea typeface="Calibri" pitchFamily="34" charset="-122"/>
                <a:cs typeface="Calibri" pitchFamily="34" charset="-120"/>
              </a:rPr>
              <a:t>All three plans commit to a weekly A/R meeting. Two commit to standing staffing reviews. Nobody has defined the same cadence, agenda or tracker — so today three buildings are building three reporting formats that will not roll up.</a:t>
            </a:r>
            <a:endParaRPr lang="en-US" sz="1250" dirty="0"/>
          </a:p>
        </p:txBody>
      </p:sp>
      <p:sp>
        <p:nvSpPr>
          <p:cNvPr id="6" name="Shape 4"/>
          <p:cNvSpPr/>
          <p:nvPr/>
        </p:nvSpPr>
        <p:spPr>
          <a:xfrm>
            <a:off x="594360" y="2231136"/>
            <a:ext cx="3533546" cy="1810512"/>
          </a:xfrm>
          <a:prstGeom prst="roundRect">
            <a:avLst>
              <a:gd name="adj" fmla="val 3030"/>
            </a:avLst>
          </a:prstGeom>
          <a:solidFill>
            <a:srgbClr val="EEF1EF"/>
          </a:solidFill>
          <a:ln w="12700">
            <a:solidFill>
              <a:srgbClr val="EEF1EF"/>
            </a:solidFill>
            <a:prstDash val="solid"/>
          </a:ln>
        </p:spPr>
      </p:sp>
      <p:sp>
        <p:nvSpPr>
          <p:cNvPr id="7" name="Text 5"/>
          <p:cNvSpPr/>
          <p:nvPr/>
        </p:nvSpPr>
        <p:spPr>
          <a:xfrm>
            <a:off x="832104" y="2414016"/>
            <a:ext cx="3058058" cy="237744"/>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IN ALL THREE PLANS</a:t>
            </a:r>
            <a:endParaRPr lang="en-US" sz="950" dirty="0"/>
          </a:p>
        </p:txBody>
      </p:sp>
      <p:sp>
        <p:nvSpPr>
          <p:cNvPr id="8" name="Text 6"/>
          <p:cNvSpPr/>
          <p:nvPr/>
        </p:nvSpPr>
        <p:spPr>
          <a:xfrm>
            <a:off x="832104" y="2697480"/>
            <a:ext cx="3058058" cy="1207008"/>
          </a:xfrm>
          <a:prstGeom prst="rect">
            <a:avLst/>
          </a:prstGeom>
          <a:noFill/>
          <a:ln/>
        </p:spPr>
        <p:txBody>
          <a:bodyPr wrap="square" lIns="0" tIns="0" rIns="0" bIns="0" rtlCol="0" anchor="ctr"/>
          <a:lstStyle/>
          <a:p>
            <a:pPr indent="0" marL="0">
              <a:lnSpc>
                <a:spcPts val="1550"/>
              </a:lnSpc>
              <a:buNone/>
            </a:pPr>
            <a:r>
              <a:rPr lang="en-US" sz="1100" dirty="0">
                <a:solidFill>
                  <a:srgbClr val="3D423C"/>
                </a:solidFill>
                <a:latin typeface="Calibri" pitchFamily="34" charset="0"/>
                <a:ea typeface="Calibri" pitchFamily="34" charset="-122"/>
                <a:cs typeface="Calibri" pitchFamily="34" charset="-120"/>
              </a:rPr>
              <a:t>Weekly A/R review — three different agendas, three different formats.</a:t>
            </a:r>
            <a:endParaRPr lang="en-US" sz="1100" dirty="0"/>
          </a:p>
        </p:txBody>
      </p:sp>
      <p:sp>
        <p:nvSpPr>
          <p:cNvPr id="9" name="Shape 7"/>
          <p:cNvSpPr/>
          <p:nvPr/>
        </p:nvSpPr>
        <p:spPr>
          <a:xfrm>
            <a:off x="4329074" y="2231136"/>
            <a:ext cx="3533546" cy="1810512"/>
          </a:xfrm>
          <a:prstGeom prst="roundRect">
            <a:avLst>
              <a:gd name="adj" fmla="val 3030"/>
            </a:avLst>
          </a:prstGeom>
          <a:solidFill>
            <a:srgbClr val="EEF1EF"/>
          </a:solidFill>
          <a:ln w="12700">
            <a:solidFill>
              <a:srgbClr val="EEF1EF"/>
            </a:solidFill>
            <a:prstDash val="solid"/>
          </a:ln>
        </p:spPr>
      </p:sp>
      <p:sp>
        <p:nvSpPr>
          <p:cNvPr id="10" name="Text 8"/>
          <p:cNvSpPr/>
          <p:nvPr/>
        </p:nvSpPr>
        <p:spPr>
          <a:xfrm>
            <a:off x="4566818" y="2414016"/>
            <a:ext cx="3058058" cy="237744"/>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IN TWO</a:t>
            </a:r>
            <a:endParaRPr lang="en-US" sz="950" dirty="0"/>
          </a:p>
        </p:txBody>
      </p:sp>
      <p:sp>
        <p:nvSpPr>
          <p:cNvPr id="11" name="Text 9"/>
          <p:cNvSpPr/>
          <p:nvPr/>
        </p:nvSpPr>
        <p:spPr>
          <a:xfrm>
            <a:off x="4566818" y="2697480"/>
            <a:ext cx="3058058" cy="1207008"/>
          </a:xfrm>
          <a:prstGeom prst="rect">
            <a:avLst/>
          </a:prstGeom>
          <a:noFill/>
          <a:ln/>
        </p:spPr>
        <p:txBody>
          <a:bodyPr wrap="square" lIns="0" tIns="0" rIns="0" bIns="0" rtlCol="0" anchor="ctr"/>
          <a:lstStyle/>
          <a:p>
            <a:pPr indent="0" marL="0">
              <a:lnSpc>
                <a:spcPts val="1550"/>
              </a:lnSpc>
              <a:buNone/>
            </a:pPr>
            <a:r>
              <a:rPr lang="en-US" sz="1100" dirty="0">
                <a:solidFill>
                  <a:srgbClr val="3D423C"/>
                </a:solidFill>
                <a:latin typeface="Calibri" pitchFamily="34" charset="0"/>
                <a:ea typeface="Calibri" pitchFamily="34" charset="-122"/>
                <a:cs typeface="Calibri" pitchFamily="34" charset="-120"/>
              </a:rPr>
              <a:t>Daily staffing and labor review, covering OT, call-offs, PPD and flex (EPAR, Julia Temple).</a:t>
            </a:r>
            <a:endParaRPr lang="en-US" sz="1100" dirty="0"/>
          </a:p>
        </p:txBody>
      </p:sp>
      <p:sp>
        <p:nvSpPr>
          <p:cNvPr id="12" name="Shape 10"/>
          <p:cNvSpPr/>
          <p:nvPr/>
        </p:nvSpPr>
        <p:spPr>
          <a:xfrm>
            <a:off x="8063789" y="2231136"/>
            <a:ext cx="3533546" cy="1810512"/>
          </a:xfrm>
          <a:prstGeom prst="roundRect">
            <a:avLst>
              <a:gd name="adj" fmla="val 3030"/>
            </a:avLst>
          </a:prstGeom>
          <a:solidFill>
            <a:srgbClr val="EEF1EF"/>
          </a:solidFill>
          <a:ln w="12700">
            <a:solidFill>
              <a:srgbClr val="EEF1EF"/>
            </a:solidFill>
            <a:prstDash val="solid"/>
          </a:ln>
        </p:spPr>
      </p:sp>
      <p:sp>
        <p:nvSpPr>
          <p:cNvPr id="13" name="Text 11"/>
          <p:cNvSpPr/>
          <p:nvPr/>
        </p:nvSpPr>
        <p:spPr>
          <a:xfrm>
            <a:off x="8301533" y="2414016"/>
            <a:ext cx="3058058" cy="237744"/>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IN ONLY ONE</a:t>
            </a:r>
            <a:endParaRPr lang="en-US" sz="950" dirty="0"/>
          </a:p>
        </p:txBody>
      </p:sp>
      <p:sp>
        <p:nvSpPr>
          <p:cNvPr id="14" name="Text 12"/>
          <p:cNvSpPr/>
          <p:nvPr/>
        </p:nvSpPr>
        <p:spPr>
          <a:xfrm>
            <a:off x="8301533" y="2697480"/>
            <a:ext cx="3058058" cy="1207008"/>
          </a:xfrm>
          <a:prstGeom prst="rect">
            <a:avLst/>
          </a:prstGeom>
          <a:noFill/>
          <a:ln/>
        </p:spPr>
        <p:txBody>
          <a:bodyPr wrap="square" lIns="0" tIns="0" rIns="0" bIns="0" rtlCol="0" anchor="ctr"/>
          <a:lstStyle/>
          <a:p>
            <a:pPr indent="0" marL="0">
              <a:lnSpc>
                <a:spcPts val="1550"/>
              </a:lnSpc>
              <a:buNone/>
            </a:pPr>
            <a:r>
              <a:rPr lang="en-US" sz="1100" dirty="0">
                <a:solidFill>
                  <a:srgbClr val="3D423C"/>
                </a:solidFill>
                <a:latin typeface="Calibri" pitchFamily="34" charset="0"/>
                <a:ea typeface="Calibri" pitchFamily="34" charset="-122"/>
                <a:cs typeface="Calibri" pitchFamily="34" charset="-120"/>
              </a:rPr>
              <a:t>Weekly review of every declined referral, coded by reason: capability, payer, staffing, equipment, relationship or speed (EPAR).</a:t>
            </a:r>
            <a:endParaRPr lang="en-US" sz="1100" dirty="0"/>
          </a:p>
        </p:txBody>
      </p:sp>
      <p:sp>
        <p:nvSpPr>
          <p:cNvPr id="15" name="Shape 13"/>
          <p:cNvSpPr/>
          <p:nvPr/>
        </p:nvSpPr>
        <p:spPr>
          <a:xfrm>
            <a:off x="594360" y="4224528"/>
            <a:ext cx="11002975" cy="1719072"/>
          </a:xfrm>
          <a:prstGeom prst="roundRect">
            <a:avLst>
              <a:gd name="adj" fmla="val 3191"/>
            </a:avLst>
          </a:prstGeom>
          <a:solidFill>
            <a:srgbClr val="143D34"/>
          </a:solidFill>
          <a:ln w="12700">
            <a:solidFill>
              <a:srgbClr val="143D34"/>
            </a:solidFill>
            <a:prstDash val="solid"/>
          </a:ln>
        </p:spPr>
      </p:sp>
      <p:sp>
        <p:nvSpPr>
          <p:cNvPr id="16" name="Text 14"/>
          <p:cNvSpPr/>
          <p:nvPr/>
        </p:nvSpPr>
        <p:spPr>
          <a:xfrm>
            <a:off x="978408" y="4425696"/>
            <a:ext cx="2743200" cy="237744"/>
          </a:xfrm>
          <a:prstGeom prst="rect">
            <a:avLst/>
          </a:prstGeom>
          <a:noFill/>
          <a:ln/>
        </p:spPr>
        <p:txBody>
          <a:bodyPr wrap="square" lIns="0" tIns="0" rIns="0" bIns="0" rtlCol="0" anchor="ctr"/>
          <a:lstStyle/>
          <a:p>
            <a:pPr indent="0" marL="0">
              <a:buNone/>
            </a:pPr>
            <a:r>
              <a:rPr lang="en-US" sz="1050" b="1" spc="240" kern="0" dirty="0">
                <a:solidFill>
                  <a:srgbClr val="6BB9A2"/>
                </a:solidFill>
                <a:latin typeface="Calibri" pitchFamily="34" charset="0"/>
                <a:ea typeface="Calibri" pitchFamily="34" charset="-122"/>
                <a:cs typeface="Calibri" pitchFamily="34" charset="-120"/>
              </a:rPr>
              <a:t>THE MOVE</a:t>
            </a:r>
            <a:endParaRPr lang="en-US" sz="1050" dirty="0"/>
          </a:p>
        </p:txBody>
      </p:sp>
      <p:sp>
        <p:nvSpPr>
          <p:cNvPr id="17" name="Text 15"/>
          <p:cNvSpPr/>
          <p:nvPr/>
        </p:nvSpPr>
        <p:spPr>
          <a:xfrm>
            <a:off x="978408" y="4700016"/>
            <a:ext cx="10234879" cy="1060704"/>
          </a:xfrm>
          <a:prstGeom prst="rect">
            <a:avLst/>
          </a:prstGeom>
          <a:noFill/>
          <a:ln/>
        </p:spPr>
        <p:txBody>
          <a:bodyPr wrap="square" lIns="0" tIns="0" rIns="0" bIns="0" rtlCol="0" anchor="ctr"/>
          <a:lstStyle/>
          <a:p>
            <a:pPr indent="0" marL="0">
              <a:lnSpc>
                <a:spcPts val="1900"/>
              </a:lnSpc>
              <a:buNone/>
            </a:pPr>
            <a:r>
              <a:rPr lang="en-US" sz="1300" dirty="0">
                <a:solidFill>
                  <a:srgbClr val="DCE6E1"/>
                </a:solidFill>
                <a:latin typeface="Calibri" pitchFamily="34" charset="0"/>
                <a:ea typeface="Calibri" pitchFamily="34" charset="-122"/>
                <a:cs typeface="Calibri" pitchFamily="34" charset="-120"/>
              </a:rPr>
              <a:t>Lock one cadence: daily staffing huddle, weekly A/R, weekly census and decline review, monthly cluster roll-up on a single tracker. Take EPAR's decline-reason coding cluster-wide — three buildings coding refusals the same way tells you within a month whether you are losing referrals to capability, to payer, or to speed. No single building can produce that diagnosis alone.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1002975" cy="237744"/>
          </a:xfrm>
          <a:prstGeom prst="rect">
            <a:avLst/>
          </a:prstGeom>
          <a:noFill/>
          <a:ln/>
        </p:spPr>
        <p:txBody>
          <a:bodyPr wrap="square" lIns="0" tIns="0" rIns="0" bIns="0" rtlCol="0" anchor="ctr"/>
          <a:lstStyle/>
          <a:p>
            <a:pPr indent="0" marL="0">
              <a:buNone/>
            </a:pPr>
            <a:r>
              <a:rPr lang="en-US" sz="1100" b="1" spc="240" kern="0" dirty="0">
                <a:solidFill>
                  <a:srgbClr val="A84A22"/>
                </a:solidFill>
                <a:latin typeface="Calibri" pitchFamily="34" charset="0"/>
                <a:ea typeface="Calibri" pitchFamily="34" charset="-122"/>
                <a:cs typeface="Calibri" pitchFamily="34" charset="-120"/>
              </a:rPr>
              <a:t>TWENTY MINUTES, HIGHEST LEVERAGE</a:t>
            </a:r>
            <a:endParaRPr lang="en-US" sz="1100" dirty="0"/>
          </a:p>
        </p:txBody>
      </p:sp>
      <p:sp>
        <p:nvSpPr>
          <p:cNvPr id="3" name="Text 1"/>
          <p:cNvSpPr/>
          <p:nvPr/>
        </p:nvSpPr>
        <p:spPr>
          <a:xfrm>
            <a:off x="594360" y="658368"/>
            <a:ext cx="11002975" cy="566928"/>
          </a:xfrm>
          <a:prstGeom prst="rect">
            <a:avLst/>
          </a:prstGeom>
          <a:noFill/>
          <a:ln/>
        </p:spPr>
        <p:txBody>
          <a:bodyPr wrap="square" lIns="0" tIns="0" rIns="0" bIns="0" rtlCol="0" anchor="t"/>
          <a:lstStyle/>
          <a:p>
            <a:pPr indent="0" marL="0">
              <a:buNone/>
            </a:pPr>
            <a:r>
              <a:rPr lang="en-US" sz="3100" b="1" dirty="0">
                <a:solidFill>
                  <a:srgbClr val="1E211D"/>
                </a:solidFill>
                <a:latin typeface="Cambria" pitchFamily="34" charset="0"/>
                <a:ea typeface="Cambria" pitchFamily="34" charset="-122"/>
                <a:cs typeface="Cambria" pitchFamily="34" charset="-120"/>
              </a:rPr>
              <a:t>Decide the definitions before anything else</a:t>
            </a:r>
            <a:endParaRPr lang="en-US" sz="3100" dirty="0"/>
          </a:p>
        </p:txBody>
      </p:sp>
      <p:sp>
        <p:nvSpPr>
          <p:cNvPr id="4" name="Text 2"/>
          <p:cNvSpPr/>
          <p:nvPr/>
        </p:nvSpPr>
        <p:spPr>
          <a:xfrm>
            <a:off x="594360" y="1325880"/>
            <a:ext cx="11002975" cy="420624"/>
          </a:xfrm>
          <a:prstGeom prst="rect">
            <a:avLst/>
          </a:prstGeom>
          <a:noFill/>
          <a:ln/>
        </p:spPr>
        <p:txBody>
          <a:bodyPr wrap="square" lIns="0" tIns="0" rIns="0" bIns="0" rtlCol="0" anchor="ctr"/>
          <a:lstStyle/>
          <a:p>
            <a:pPr indent="0" marL="0">
              <a:buNone/>
            </a:pPr>
            <a:r>
              <a:rPr lang="en-US" sz="1250" dirty="0">
                <a:solidFill>
                  <a:srgbClr val="3D423C"/>
                </a:solidFill>
                <a:latin typeface="Calibri" pitchFamily="34" charset="0"/>
                <a:ea typeface="Calibri" pitchFamily="34" charset="-122"/>
                <a:cs typeface="Calibri" pitchFamily="34" charset="-120"/>
              </a:rPr>
              <a:t>No cluster tracker works until these match, and the October building has nothing to inherit until they do. Every other decision gets easier once these are settled.</a:t>
            </a:r>
            <a:endParaRPr lang="en-US" sz="1250" dirty="0"/>
          </a:p>
        </p:txBody>
      </p:sp>
      <p:sp>
        <p:nvSpPr>
          <p:cNvPr id="5" name="Shape 3"/>
          <p:cNvSpPr/>
          <p:nvPr/>
        </p:nvSpPr>
        <p:spPr>
          <a:xfrm>
            <a:off x="594360" y="1783080"/>
            <a:ext cx="5364328" cy="1280160"/>
          </a:xfrm>
          <a:prstGeom prst="roundRect">
            <a:avLst>
              <a:gd name="adj" fmla="val 4286"/>
            </a:avLst>
          </a:prstGeom>
          <a:solidFill>
            <a:srgbClr val="F7EBE3"/>
          </a:solidFill>
          <a:ln w="12700">
            <a:solidFill>
              <a:srgbClr val="F7EBE3"/>
            </a:solidFill>
            <a:prstDash val="solid"/>
          </a:ln>
        </p:spPr>
      </p:sp>
      <p:sp>
        <p:nvSpPr>
          <p:cNvPr id="6" name="Text 4"/>
          <p:cNvSpPr/>
          <p:nvPr/>
        </p:nvSpPr>
        <p:spPr>
          <a:xfrm>
            <a:off x="832104" y="2002536"/>
            <a:ext cx="365760" cy="365760"/>
          </a:xfrm>
          <a:prstGeom prst="ellipse">
            <a:avLst/>
          </a:prstGeom>
          <a:solidFill>
            <a:srgbClr val="A84A22"/>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25880" y="2002536"/>
            <a:ext cx="4395064" cy="365760"/>
          </a:xfrm>
          <a:prstGeom prst="rect">
            <a:avLst/>
          </a:prstGeom>
          <a:noFill/>
          <a:ln/>
        </p:spPr>
        <p:txBody>
          <a:bodyPr wrap="square" lIns="0" tIns="0" rIns="0" bIns="0" rtlCol="0" anchor="ctr"/>
          <a:lstStyle/>
          <a:p>
            <a:pPr indent="0" marL="0">
              <a:buNone/>
            </a:pPr>
            <a:r>
              <a:rPr lang="en-US" sz="1400" b="1" dirty="0">
                <a:solidFill>
                  <a:srgbClr val="1E211D"/>
                </a:solidFill>
                <a:latin typeface="Calibri" pitchFamily="34" charset="0"/>
                <a:ea typeface="Calibri" pitchFamily="34" charset="-122"/>
                <a:cs typeface="Calibri" pitchFamily="34" charset="-120"/>
              </a:rPr>
              <a:t>Census</a:t>
            </a:r>
            <a:endParaRPr lang="en-US" sz="1400" dirty="0"/>
          </a:p>
        </p:txBody>
      </p:sp>
      <p:sp>
        <p:nvSpPr>
          <p:cNvPr id="8" name="Text 6"/>
          <p:cNvSpPr/>
          <p:nvPr/>
        </p:nvSpPr>
        <p:spPr>
          <a:xfrm>
            <a:off x="1325880" y="2368296"/>
            <a:ext cx="4395064" cy="585216"/>
          </a:xfrm>
          <a:prstGeom prst="rect">
            <a:avLst/>
          </a:prstGeom>
          <a:noFill/>
          <a:ln/>
        </p:spPr>
        <p:txBody>
          <a:bodyPr wrap="square" lIns="0" tIns="0" rIns="0" bIns="0" rtlCol="0" anchor="ctr"/>
          <a:lstStyle/>
          <a:p>
            <a:pPr indent="0" marL="0">
              <a:lnSpc>
                <a:spcPts val="1400"/>
              </a:lnSpc>
              <a:buNone/>
            </a:pPr>
            <a:r>
              <a:rPr lang="en-US" sz="1050" dirty="0">
                <a:solidFill>
                  <a:srgbClr val="3D423C"/>
                </a:solidFill>
                <a:latin typeface="Calibri" pitchFamily="34" charset="0"/>
                <a:ea typeface="Calibri" pitchFamily="34" charset="-122"/>
                <a:cs typeface="Calibri" pitchFamily="34" charset="-120"/>
              </a:rPr>
              <a:t>ADC, skilled mix percentage, or both? EPAR and Julia Temple count heads; Littleton counts mix. Pick one primary and one secondary, cluster-wide.</a:t>
            </a:r>
            <a:endParaRPr lang="en-US" sz="1050" dirty="0"/>
          </a:p>
        </p:txBody>
      </p:sp>
      <p:sp>
        <p:nvSpPr>
          <p:cNvPr id="9" name="Shape 7"/>
          <p:cNvSpPr/>
          <p:nvPr/>
        </p:nvSpPr>
        <p:spPr>
          <a:xfrm>
            <a:off x="6233008" y="1783080"/>
            <a:ext cx="5364328" cy="1280160"/>
          </a:xfrm>
          <a:prstGeom prst="roundRect">
            <a:avLst>
              <a:gd name="adj" fmla="val 4286"/>
            </a:avLst>
          </a:prstGeom>
          <a:solidFill>
            <a:srgbClr val="F7EBE3"/>
          </a:solidFill>
          <a:ln w="12700">
            <a:solidFill>
              <a:srgbClr val="F7EBE3"/>
            </a:solidFill>
            <a:prstDash val="solid"/>
          </a:ln>
        </p:spPr>
      </p:sp>
      <p:sp>
        <p:nvSpPr>
          <p:cNvPr id="10" name="Text 8"/>
          <p:cNvSpPr/>
          <p:nvPr/>
        </p:nvSpPr>
        <p:spPr>
          <a:xfrm>
            <a:off x="6470752" y="2002536"/>
            <a:ext cx="365760" cy="365760"/>
          </a:xfrm>
          <a:prstGeom prst="ellipse">
            <a:avLst/>
          </a:prstGeom>
          <a:solidFill>
            <a:srgbClr val="A84A22"/>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6964528" y="2002536"/>
            <a:ext cx="4395064" cy="365760"/>
          </a:xfrm>
          <a:prstGeom prst="rect">
            <a:avLst/>
          </a:prstGeom>
          <a:noFill/>
          <a:ln/>
        </p:spPr>
        <p:txBody>
          <a:bodyPr wrap="square" lIns="0" tIns="0" rIns="0" bIns="0" rtlCol="0" anchor="ctr"/>
          <a:lstStyle/>
          <a:p>
            <a:pPr indent="0" marL="0">
              <a:buNone/>
            </a:pPr>
            <a:r>
              <a:rPr lang="en-US" sz="1400" b="1" dirty="0">
                <a:solidFill>
                  <a:srgbClr val="1E211D"/>
                </a:solidFill>
                <a:latin typeface="Calibri" pitchFamily="34" charset="0"/>
                <a:ea typeface="Calibri" pitchFamily="34" charset="-122"/>
                <a:cs typeface="Calibri" pitchFamily="34" charset="-120"/>
              </a:rPr>
              <a:t>Bad debt</a:t>
            </a:r>
            <a:endParaRPr lang="en-US" sz="1400" dirty="0"/>
          </a:p>
        </p:txBody>
      </p:sp>
      <p:sp>
        <p:nvSpPr>
          <p:cNvPr id="12" name="Text 10"/>
          <p:cNvSpPr/>
          <p:nvPr/>
        </p:nvSpPr>
        <p:spPr>
          <a:xfrm>
            <a:off x="6964528" y="2368296"/>
            <a:ext cx="4395064" cy="585216"/>
          </a:xfrm>
          <a:prstGeom prst="rect">
            <a:avLst/>
          </a:prstGeom>
          <a:noFill/>
          <a:ln/>
        </p:spPr>
        <p:txBody>
          <a:bodyPr wrap="square" lIns="0" tIns="0" rIns="0" bIns="0" rtlCol="0" anchor="ctr"/>
          <a:lstStyle/>
          <a:p>
            <a:pPr indent="0" marL="0">
              <a:lnSpc>
                <a:spcPts val="1400"/>
              </a:lnSpc>
              <a:buNone/>
            </a:pPr>
            <a:r>
              <a:rPr lang="en-US" sz="1050" dirty="0">
                <a:solidFill>
                  <a:srgbClr val="3D423C"/>
                </a:solidFill>
                <a:latin typeface="Calibri" pitchFamily="34" charset="0"/>
                <a:ea typeface="Calibri" pitchFamily="34" charset="-122"/>
                <a:cs typeface="Calibri" pitchFamily="34" charset="-120"/>
              </a:rPr>
              <a:t>EPAR says ≤3%, Julia Temple says &lt;1%, Littleton has no target. Set a cluster standard plus building-specific stretch targets.</a:t>
            </a:r>
            <a:endParaRPr lang="en-US" sz="1050" dirty="0"/>
          </a:p>
        </p:txBody>
      </p:sp>
      <p:sp>
        <p:nvSpPr>
          <p:cNvPr id="13" name="Shape 11"/>
          <p:cNvSpPr/>
          <p:nvPr/>
        </p:nvSpPr>
        <p:spPr>
          <a:xfrm>
            <a:off x="594360" y="3246120"/>
            <a:ext cx="5364328" cy="1280160"/>
          </a:xfrm>
          <a:prstGeom prst="roundRect">
            <a:avLst>
              <a:gd name="adj" fmla="val 4286"/>
            </a:avLst>
          </a:prstGeom>
          <a:solidFill>
            <a:srgbClr val="F7EBE3"/>
          </a:solidFill>
          <a:ln w="12700">
            <a:solidFill>
              <a:srgbClr val="F7EBE3"/>
            </a:solidFill>
            <a:prstDash val="solid"/>
          </a:ln>
        </p:spPr>
      </p:sp>
      <p:sp>
        <p:nvSpPr>
          <p:cNvPr id="14" name="Text 12"/>
          <p:cNvSpPr/>
          <p:nvPr/>
        </p:nvSpPr>
        <p:spPr>
          <a:xfrm>
            <a:off x="832104" y="3465576"/>
            <a:ext cx="365760" cy="365760"/>
          </a:xfrm>
          <a:prstGeom prst="ellipse">
            <a:avLst/>
          </a:prstGeom>
          <a:solidFill>
            <a:srgbClr val="A84A22"/>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325880" y="3465576"/>
            <a:ext cx="4395064" cy="365760"/>
          </a:xfrm>
          <a:prstGeom prst="rect">
            <a:avLst/>
          </a:prstGeom>
          <a:noFill/>
          <a:ln/>
        </p:spPr>
        <p:txBody>
          <a:bodyPr wrap="square" lIns="0" tIns="0" rIns="0" bIns="0" rtlCol="0" anchor="ctr"/>
          <a:lstStyle/>
          <a:p>
            <a:pPr indent="0" marL="0">
              <a:buNone/>
            </a:pPr>
            <a:r>
              <a:rPr lang="en-US" sz="1400" b="1" dirty="0">
                <a:solidFill>
                  <a:srgbClr val="1E211D"/>
                </a:solidFill>
                <a:latin typeface="Calibri" pitchFamily="34" charset="0"/>
                <a:ea typeface="Calibri" pitchFamily="34" charset="-122"/>
                <a:cs typeface="Calibri" pitchFamily="34" charset="-120"/>
              </a:rPr>
              <a:t>Agency and overtime</a:t>
            </a:r>
            <a:endParaRPr lang="en-US" sz="1400" dirty="0"/>
          </a:p>
        </p:txBody>
      </p:sp>
      <p:sp>
        <p:nvSpPr>
          <p:cNvPr id="16" name="Text 14"/>
          <p:cNvSpPr/>
          <p:nvPr/>
        </p:nvSpPr>
        <p:spPr>
          <a:xfrm>
            <a:off x="1325880" y="3831336"/>
            <a:ext cx="4395064" cy="585216"/>
          </a:xfrm>
          <a:prstGeom prst="rect">
            <a:avLst/>
          </a:prstGeom>
          <a:noFill/>
          <a:ln/>
        </p:spPr>
        <p:txBody>
          <a:bodyPr wrap="square" lIns="0" tIns="0" rIns="0" bIns="0" rtlCol="0" anchor="ctr"/>
          <a:lstStyle/>
          <a:p>
            <a:pPr indent="0" marL="0">
              <a:lnSpc>
                <a:spcPts val="1400"/>
              </a:lnSpc>
              <a:buNone/>
            </a:pPr>
            <a:r>
              <a:rPr lang="en-US" sz="1050" dirty="0">
                <a:solidFill>
                  <a:srgbClr val="3D423C"/>
                </a:solidFill>
                <a:latin typeface="Calibri" pitchFamily="34" charset="0"/>
                <a:ea typeface="Calibri" pitchFamily="34" charset="-122"/>
                <a:cs typeface="Calibri" pitchFamily="34" charset="-120"/>
              </a:rPr>
              <a:t>WPPD or dollars per month? Report both, but name which one the tracker grades.</a:t>
            </a:r>
            <a:endParaRPr lang="en-US" sz="1050" dirty="0"/>
          </a:p>
        </p:txBody>
      </p:sp>
      <p:sp>
        <p:nvSpPr>
          <p:cNvPr id="17" name="Shape 15"/>
          <p:cNvSpPr/>
          <p:nvPr/>
        </p:nvSpPr>
        <p:spPr>
          <a:xfrm>
            <a:off x="6233008" y="3246120"/>
            <a:ext cx="5364328" cy="1280160"/>
          </a:xfrm>
          <a:prstGeom prst="roundRect">
            <a:avLst>
              <a:gd name="adj" fmla="val 4286"/>
            </a:avLst>
          </a:prstGeom>
          <a:solidFill>
            <a:srgbClr val="F7EBE3"/>
          </a:solidFill>
          <a:ln w="12700">
            <a:solidFill>
              <a:srgbClr val="F7EBE3"/>
            </a:solidFill>
            <a:prstDash val="solid"/>
          </a:ln>
        </p:spPr>
      </p:sp>
      <p:sp>
        <p:nvSpPr>
          <p:cNvPr id="18" name="Text 16"/>
          <p:cNvSpPr/>
          <p:nvPr/>
        </p:nvSpPr>
        <p:spPr>
          <a:xfrm>
            <a:off x="6470752" y="3465576"/>
            <a:ext cx="365760" cy="365760"/>
          </a:xfrm>
          <a:prstGeom prst="ellipse">
            <a:avLst/>
          </a:prstGeom>
          <a:solidFill>
            <a:srgbClr val="A84A22"/>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6964528" y="3465576"/>
            <a:ext cx="4395064" cy="365760"/>
          </a:xfrm>
          <a:prstGeom prst="rect">
            <a:avLst/>
          </a:prstGeom>
          <a:noFill/>
          <a:ln/>
        </p:spPr>
        <p:txBody>
          <a:bodyPr wrap="square" lIns="0" tIns="0" rIns="0" bIns="0" rtlCol="0" anchor="ctr"/>
          <a:lstStyle/>
          <a:p>
            <a:pPr indent="0" marL="0">
              <a:buNone/>
            </a:pPr>
            <a:r>
              <a:rPr lang="en-US" sz="1400" b="1" dirty="0">
                <a:solidFill>
                  <a:srgbClr val="1E211D"/>
                </a:solidFill>
                <a:latin typeface="Calibri" pitchFamily="34" charset="0"/>
                <a:ea typeface="Calibri" pitchFamily="34" charset="-122"/>
                <a:cs typeface="Calibri" pitchFamily="34" charset="-120"/>
              </a:rPr>
              <a:t>Turnover</a:t>
            </a:r>
            <a:endParaRPr lang="en-US" sz="1400" dirty="0"/>
          </a:p>
        </p:txBody>
      </p:sp>
      <p:sp>
        <p:nvSpPr>
          <p:cNvPr id="20" name="Text 18"/>
          <p:cNvSpPr/>
          <p:nvPr/>
        </p:nvSpPr>
        <p:spPr>
          <a:xfrm>
            <a:off x="6964528" y="3831336"/>
            <a:ext cx="4395064" cy="585216"/>
          </a:xfrm>
          <a:prstGeom prst="rect">
            <a:avLst/>
          </a:prstGeom>
          <a:noFill/>
          <a:ln/>
        </p:spPr>
        <p:txBody>
          <a:bodyPr wrap="square" lIns="0" tIns="0" rIns="0" bIns="0" rtlCol="0" anchor="ctr"/>
          <a:lstStyle/>
          <a:p>
            <a:pPr indent="0" marL="0">
              <a:lnSpc>
                <a:spcPts val="1400"/>
              </a:lnSpc>
              <a:buNone/>
            </a:pPr>
            <a:r>
              <a:rPr lang="en-US" sz="1050" dirty="0">
                <a:solidFill>
                  <a:srgbClr val="3D423C"/>
                </a:solidFill>
                <a:latin typeface="Calibri" pitchFamily="34" charset="0"/>
                <a:ea typeface="Calibri" pitchFamily="34" charset="-122"/>
                <a:cs typeface="Calibri" pitchFamily="34" charset="-120"/>
              </a:rPr>
              <a:t>Only Littleton measures it. If it stays a one-building metric, the cluster cannot see its own biggest cost driver coming.</a:t>
            </a:r>
            <a:endParaRPr lang="en-US" sz="1050" dirty="0"/>
          </a:p>
        </p:txBody>
      </p:sp>
      <p:sp>
        <p:nvSpPr>
          <p:cNvPr id="21" name="Shape 19"/>
          <p:cNvSpPr/>
          <p:nvPr/>
        </p:nvSpPr>
        <p:spPr>
          <a:xfrm>
            <a:off x="594360" y="4709160"/>
            <a:ext cx="5364328" cy="1280160"/>
          </a:xfrm>
          <a:prstGeom prst="roundRect">
            <a:avLst>
              <a:gd name="adj" fmla="val 4286"/>
            </a:avLst>
          </a:prstGeom>
          <a:solidFill>
            <a:srgbClr val="F7EBE3"/>
          </a:solidFill>
          <a:ln w="12700">
            <a:solidFill>
              <a:srgbClr val="F7EBE3"/>
            </a:solidFill>
            <a:prstDash val="solid"/>
          </a:ln>
        </p:spPr>
      </p:sp>
      <p:sp>
        <p:nvSpPr>
          <p:cNvPr id="22" name="Text 20"/>
          <p:cNvSpPr/>
          <p:nvPr/>
        </p:nvSpPr>
        <p:spPr>
          <a:xfrm>
            <a:off x="832104" y="4928616"/>
            <a:ext cx="365760" cy="365760"/>
          </a:xfrm>
          <a:prstGeom prst="ellipse">
            <a:avLst/>
          </a:prstGeom>
          <a:solidFill>
            <a:srgbClr val="A84A22"/>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325880" y="4928616"/>
            <a:ext cx="4395064" cy="365760"/>
          </a:xfrm>
          <a:prstGeom prst="rect">
            <a:avLst/>
          </a:prstGeom>
          <a:noFill/>
          <a:ln/>
        </p:spPr>
        <p:txBody>
          <a:bodyPr wrap="square" lIns="0" tIns="0" rIns="0" bIns="0" rtlCol="0" anchor="ctr"/>
          <a:lstStyle/>
          <a:p>
            <a:pPr indent="0" marL="0">
              <a:buNone/>
            </a:pPr>
            <a:r>
              <a:rPr lang="en-US" sz="1400" b="1" dirty="0">
                <a:solidFill>
                  <a:srgbClr val="1E211D"/>
                </a:solidFill>
                <a:latin typeface="Calibri" pitchFamily="34" charset="0"/>
                <a:ea typeface="Calibri" pitchFamily="34" charset="-122"/>
                <a:cs typeface="Calibri" pitchFamily="34" charset="-120"/>
              </a:rPr>
              <a:t>A stated baseline, everywhere</a:t>
            </a:r>
            <a:endParaRPr lang="en-US" sz="1400" dirty="0"/>
          </a:p>
        </p:txBody>
      </p:sp>
      <p:sp>
        <p:nvSpPr>
          <p:cNvPr id="24" name="Text 22"/>
          <p:cNvSpPr/>
          <p:nvPr/>
        </p:nvSpPr>
        <p:spPr>
          <a:xfrm>
            <a:off x="1325880" y="5294376"/>
            <a:ext cx="4395064" cy="585216"/>
          </a:xfrm>
          <a:prstGeom prst="rect">
            <a:avLst/>
          </a:prstGeom>
          <a:noFill/>
          <a:ln/>
        </p:spPr>
        <p:txBody>
          <a:bodyPr wrap="square" lIns="0" tIns="0" rIns="0" bIns="0" rtlCol="0" anchor="ctr"/>
          <a:lstStyle/>
          <a:p>
            <a:pPr indent="0" marL="0">
              <a:lnSpc>
                <a:spcPts val="1400"/>
              </a:lnSpc>
              <a:buNone/>
            </a:pPr>
            <a:r>
              <a:rPr lang="en-US" sz="1050" dirty="0">
                <a:solidFill>
                  <a:srgbClr val="3D423C"/>
                </a:solidFill>
                <a:latin typeface="Calibri" pitchFamily="34" charset="0"/>
                <a:ea typeface="Calibri" pitchFamily="34" charset="-122"/>
                <a:cs typeface="Calibri" pitchFamily="34" charset="-120"/>
              </a:rPr>
              <a:t>Two of three plans have no starting number. In November, “we improved” is unprovable without one.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3D34"/>
        </a:solidFill>
      </p:bgPr>
    </p:bg>
    <p:spTree>
      <p:nvGrpSpPr>
        <p:cNvPr id="1" name=""/>
        <p:cNvGrpSpPr/>
        <p:nvPr/>
      </p:nvGrpSpPr>
      <p:grpSpPr>
        <a:xfrm>
          <a:off x="0" y="0"/>
          <a:ext cx="0" cy="0"/>
          <a:chOff x="0" y="0"/>
          <a:chExt cx="0" cy="0"/>
        </a:xfrm>
      </p:grpSpPr>
      <p:sp>
        <p:nvSpPr>
          <p:cNvPr id="2" name="Shape 0"/>
          <p:cNvSpPr/>
          <p:nvPr/>
        </p:nvSpPr>
        <p:spPr>
          <a:xfrm>
            <a:off x="9052560" y="548640"/>
            <a:ext cx="4572000" cy="4572000"/>
          </a:xfrm>
          <a:prstGeom prst="ellipse">
            <a:avLst/>
          </a:prstGeom>
          <a:solidFill>
            <a:srgbClr val="1F5B4E">
              <a:alpha val="50000"/>
            </a:srgbClr>
          </a:solidFill>
          <a:ln w="12700">
            <a:solidFill>
              <a:srgbClr val="333333"/>
            </a:solidFill>
            <a:prstDash val="solid"/>
          </a:ln>
        </p:spPr>
      </p:sp>
      <p:sp>
        <p:nvSpPr>
          <p:cNvPr id="3" name="Text 1"/>
          <p:cNvSpPr/>
          <p:nvPr/>
        </p:nvSpPr>
        <p:spPr>
          <a:xfrm>
            <a:off x="594360" y="2331720"/>
            <a:ext cx="7315200" cy="292608"/>
          </a:xfrm>
          <a:prstGeom prst="rect">
            <a:avLst/>
          </a:prstGeom>
          <a:noFill/>
          <a:ln/>
        </p:spPr>
        <p:txBody>
          <a:bodyPr wrap="square" lIns="0" tIns="0" rIns="0" bIns="0" rtlCol="0" anchor="ctr"/>
          <a:lstStyle/>
          <a:p>
            <a:pPr indent="0" marL="0">
              <a:buNone/>
            </a:pPr>
            <a:r>
              <a:rPr lang="en-US" sz="1250" b="1" spc="300" kern="0" dirty="0">
                <a:solidFill>
                  <a:srgbClr val="6BB9A2"/>
                </a:solidFill>
                <a:latin typeface="Calibri" pitchFamily="34" charset="0"/>
                <a:ea typeface="Calibri" pitchFamily="34" charset="-122"/>
                <a:cs typeface="Calibri" pitchFamily="34" charset="-120"/>
              </a:rPr>
              <a:t>PRESENTING THE PLAN</a:t>
            </a:r>
            <a:endParaRPr lang="en-US" sz="1250" dirty="0"/>
          </a:p>
        </p:txBody>
      </p:sp>
      <p:sp>
        <p:nvSpPr>
          <p:cNvPr id="4" name="Text 2"/>
          <p:cNvSpPr/>
          <p:nvPr/>
        </p:nvSpPr>
        <p:spPr>
          <a:xfrm>
            <a:off x="594360" y="2697480"/>
            <a:ext cx="8046720" cy="1463040"/>
          </a:xfrm>
          <a:prstGeom prst="rect">
            <a:avLst/>
          </a:prstGeom>
          <a:noFill/>
          <a:ln/>
        </p:spPr>
        <p:txBody>
          <a:bodyPr wrap="square" lIns="0" tIns="0" rIns="0" bIns="0" rtlCol="0" anchor="ctr"/>
          <a:lstStyle/>
          <a:p>
            <a:pPr indent="0" marL="0">
              <a:lnSpc>
                <a:spcPts val="4200"/>
              </a:lnSpc>
              <a:buNone/>
            </a:pPr>
            <a:r>
              <a:rPr lang="en-US" sz="3800" b="1" dirty="0">
                <a:solidFill>
                  <a:srgbClr val="FFFFFF"/>
                </a:solidFill>
                <a:latin typeface="Cambria" pitchFamily="34" charset="0"/>
                <a:ea typeface="Cambria" pitchFamily="34" charset="-122"/>
                <a:cs typeface="Cambria" pitchFamily="34" charset="-120"/>
              </a:rPr>
              <a:t>What each administrator</a:t>
            </a:r>
            <a:endParaRPr lang="en-US" sz="3800" dirty="0"/>
          </a:p>
          <a:p>
            <a:pPr indent="0" marL="0">
              <a:lnSpc>
                <a:spcPts val="4200"/>
              </a:lnSpc>
              <a:buNone/>
            </a:pPr>
            <a:r>
              <a:rPr lang="en-US" sz="3800" b="1" dirty="0">
                <a:solidFill>
                  <a:srgbClr val="FFFFFF"/>
                </a:solidFill>
                <a:latin typeface="Cambria" pitchFamily="34" charset="0"/>
                <a:ea typeface="Cambria" pitchFamily="34" charset="-122"/>
                <a:cs typeface="Cambria" pitchFamily="34" charset="-120"/>
              </a:rPr>
              <a:t>should lead with</a:t>
            </a:r>
            <a:endParaRPr lang="en-US" sz="3800" dirty="0"/>
          </a:p>
        </p:txBody>
      </p:sp>
      <p:sp>
        <p:nvSpPr>
          <p:cNvPr id="5" name="Text 3"/>
          <p:cNvSpPr/>
          <p:nvPr/>
        </p:nvSpPr>
        <p:spPr>
          <a:xfrm>
            <a:off x="594360" y="4297680"/>
            <a:ext cx="7132320" cy="640080"/>
          </a:xfrm>
          <a:prstGeom prst="rect">
            <a:avLst/>
          </a:prstGeom>
          <a:noFill/>
          <a:ln/>
        </p:spPr>
        <p:txBody>
          <a:bodyPr wrap="square" lIns="0" tIns="0" rIns="0" bIns="0" rtlCol="0" anchor="ctr"/>
          <a:lstStyle/>
          <a:p>
            <a:pPr indent="0" marL="0">
              <a:lnSpc>
                <a:spcPts val="2100"/>
              </a:lnSpc>
              <a:buNone/>
            </a:pPr>
            <a:r>
              <a:rPr lang="en-US" sz="1400" dirty="0">
                <a:solidFill>
                  <a:srgbClr val="C9D6D0"/>
                </a:solidFill>
                <a:latin typeface="Calibri" pitchFamily="34" charset="0"/>
                <a:ea typeface="Calibri" pitchFamily="34" charset="-122"/>
                <a:cs typeface="Calibri" pitchFamily="34" charset="-120"/>
              </a:rPr>
              <a:t>Three minutes each: where we are, the two or three numbers that matter, and the one thing I need from this room.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1002975"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ADMINISTRATOR BRIEF</a:t>
            </a:r>
            <a:endParaRPr lang="en-US" sz="1100" dirty="0"/>
          </a:p>
        </p:txBody>
      </p:sp>
      <p:sp>
        <p:nvSpPr>
          <p:cNvPr id="3" name="Text 1"/>
          <p:cNvSpPr/>
          <p:nvPr/>
        </p:nvSpPr>
        <p:spPr>
          <a:xfrm>
            <a:off x="594360" y="658368"/>
            <a:ext cx="11002975" cy="566928"/>
          </a:xfrm>
          <a:prstGeom prst="rect">
            <a:avLst/>
          </a:prstGeom>
          <a:noFill/>
          <a:ln/>
        </p:spPr>
        <p:txBody>
          <a:bodyPr wrap="square" lIns="0" tIns="0" rIns="0" bIns="0" rtlCol="0" anchor="t"/>
          <a:lstStyle/>
          <a:p>
            <a:pPr indent="0" marL="0">
              <a:buNone/>
            </a:pPr>
            <a:r>
              <a:rPr lang="en-US" sz="3100" b="1" dirty="0">
                <a:solidFill>
                  <a:srgbClr val="1E211D"/>
                </a:solidFill>
                <a:latin typeface="Cambria" pitchFamily="34" charset="0"/>
                <a:ea typeface="Cambria" pitchFamily="34" charset="-122"/>
                <a:cs typeface="Cambria" pitchFamily="34" charset="-120"/>
              </a:rPr>
              <a:t>EPAR</a:t>
            </a:r>
            <a:endParaRPr lang="en-US" sz="3100" dirty="0"/>
          </a:p>
        </p:txBody>
      </p:sp>
      <p:sp>
        <p:nvSpPr>
          <p:cNvPr id="4" name="Text 2"/>
          <p:cNvSpPr/>
          <p:nvPr/>
        </p:nvSpPr>
        <p:spPr>
          <a:xfrm>
            <a:off x="594360" y="1207008"/>
            <a:ext cx="11002975" cy="274320"/>
          </a:xfrm>
          <a:prstGeom prst="rect">
            <a:avLst/>
          </a:prstGeom>
          <a:noFill/>
          <a:ln/>
        </p:spPr>
        <p:txBody>
          <a:bodyPr wrap="square" lIns="0" tIns="0" rIns="0" bIns="0" rtlCol="0" anchor="ctr"/>
          <a:lstStyle/>
          <a:p>
            <a:pPr indent="0" marL="0">
              <a:buNone/>
            </a:pPr>
            <a:r>
              <a:rPr lang="en-US" sz="1250" i="1" dirty="0">
                <a:solidFill>
                  <a:srgbClr val="6E746D"/>
                </a:solidFill>
                <a:latin typeface="Calibri" pitchFamily="34" charset="0"/>
                <a:ea typeface="Calibri" pitchFamily="34" charset="-122"/>
                <a:cs typeface="Calibri" pitchFamily="34" charset="-120"/>
              </a:rPr>
              <a:t>The plan with the most operational detail and the clearest ownership.</a:t>
            </a:r>
            <a:endParaRPr lang="en-US" sz="1250" dirty="0"/>
          </a:p>
        </p:txBody>
      </p:sp>
      <p:sp>
        <p:nvSpPr>
          <p:cNvPr id="5" name="Shape 3"/>
          <p:cNvSpPr/>
          <p:nvPr/>
        </p:nvSpPr>
        <p:spPr>
          <a:xfrm>
            <a:off x="594360" y="1627632"/>
            <a:ext cx="11002975" cy="1060704"/>
          </a:xfrm>
          <a:prstGeom prst="roundRect">
            <a:avLst>
              <a:gd name="adj" fmla="val 5172"/>
            </a:avLst>
          </a:prstGeom>
          <a:solidFill>
            <a:srgbClr val="143D34"/>
          </a:solidFill>
          <a:ln w="12700">
            <a:solidFill>
              <a:srgbClr val="143D34"/>
            </a:solidFill>
            <a:prstDash val="solid"/>
          </a:ln>
        </p:spPr>
      </p:sp>
      <p:sp>
        <p:nvSpPr>
          <p:cNvPr id="6" name="Text 4"/>
          <p:cNvSpPr/>
          <p:nvPr/>
        </p:nvSpPr>
        <p:spPr>
          <a:xfrm>
            <a:off x="978408" y="1773936"/>
            <a:ext cx="2743200" cy="219456"/>
          </a:xfrm>
          <a:prstGeom prst="rect">
            <a:avLst/>
          </a:prstGeom>
          <a:noFill/>
          <a:ln/>
        </p:spPr>
        <p:txBody>
          <a:bodyPr wrap="square" lIns="0" tIns="0" rIns="0" bIns="0" rtlCol="0" anchor="ctr"/>
          <a:lstStyle/>
          <a:p>
            <a:pPr indent="0" marL="0">
              <a:buNone/>
            </a:pPr>
            <a:r>
              <a:rPr lang="en-US" sz="1000" b="1" spc="240" kern="0" dirty="0">
                <a:solidFill>
                  <a:srgbClr val="6BB9A2"/>
                </a:solidFill>
                <a:latin typeface="Calibri" pitchFamily="34" charset="0"/>
                <a:ea typeface="Calibri" pitchFamily="34" charset="-122"/>
                <a:cs typeface="Calibri" pitchFamily="34" charset="-120"/>
              </a:rPr>
              <a:t>LEAD WITH</a:t>
            </a:r>
            <a:endParaRPr lang="en-US" sz="1000" dirty="0"/>
          </a:p>
        </p:txBody>
      </p:sp>
      <p:sp>
        <p:nvSpPr>
          <p:cNvPr id="7" name="Text 5"/>
          <p:cNvSpPr/>
          <p:nvPr/>
        </p:nvSpPr>
        <p:spPr>
          <a:xfrm>
            <a:off x="978408" y="2011680"/>
            <a:ext cx="10234879" cy="640080"/>
          </a:xfrm>
          <a:prstGeom prst="rect">
            <a:avLst/>
          </a:prstGeom>
          <a:noFill/>
          <a:ln/>
        </p:spPr>
        <p:txBody>
          <a:bodyPr wrap="square" lIns="0" tIns="0" rIns="0" bIns="0" rtlCol="0" anchor="ctr"/>
          <a:lstStyle/>
          <a:p>
            <a:pPr indent="0" marL="0">
              <a:buNone/>
            </a:pPr>
            <a:r>
              <a:rPr lang="en-US" sz="1850" i="1" dirty="0">
                <a:solidFill>
                  <a:srgbClr val="FFFFFF"/>
                </a:solidFill>
                <a:latin typeface="Cambria" pitchFamily="34" charset="0"/>
                <a:ea typeface="Cambria" pitchFamily="34" charset="-122"/>
                <a:cs typeface="Cambria" pitchFamily="34" charset="-120"/>
              </a:rPr>
              <a:t>“We are not asking people to spend less. We are changing two cost structures permanently.”</a:t>
            </a:r>
            <a:endParaRPr lang="en-US" sz="1850" dirty="0"/>
          </a:p>
        </p:txBody>
      </p:sp>
      <p:sp>
        <p:nvSpPr>
          <p:cNvPr id="8" name="Shape 6"/>
          <p:cNvSpPr/>
          <p:nvPr/>
        </p:nvSpPr>
        <p:spPr>
          <a:xfrm>
            <a:off x="594360" y="2834640"/>
            <a:ext cx="5364328" cy="914400"/>
          </a:xfrm>
          <a:prstGeom prst="roundRect">
            <a:avLst>
              <a:gd name="adj" fmla="val 6000"/>
            </a:avLst>
          </a:prstGeom>
          <a:solidFill>
            <a:srgbClr val="EEF1EF"/>
          </a:solidFill>
          <a:ln w="12700">
            <a:solidFill>
              <a:srgbClr val="EEF1EF"/>
            </a:solidFill>
            <a:prstDash val="solid"/>
          </a:ln>
        </p:spPr>
      </p:sp>
      <p:sp>
        <p:nvSpPr>
          <p:cNvPr id="9" name="Text 7"/>
          <p:cNvSpPr/>
          <p:nvPr/>
        </p:nvSpPr>
        <p:spPr>
          <a:xfrm>
            <a:off x="850392" y="2980944"/>
            <a:ext cx="4852264" cy="274320"/>
          </a:xfrm>
          <a:prstGeom prst="rect">
            <a:avLst/>
          </a:prstGeom>
          <a:noFill/>
          <a:ln/>
        </p:spPr>
        <p:txBody>
          <a:bodyPr wrap="square" lIns="0" tIns="0" rIns="0" bIns="0" rtlCol="0" anchor="ctr"/>
          <a:lstStyle/>
          <a:p>
            <a:pPr indent="0" marL="0">
              <a:buNone/>
            </a:pPr>
            <a:r>
              <a:rPr lang="en-US" sz="1350" b="1" dirty="0">
                <a:solidFill>
                  <a:srgbClr val="1F5B4E"/>
                </a:solidFill>
                <a:latin typeface="Calibri" pitchFamily="34" charset="0"/>
                <a:ea typeface="Calibri" pitchFamily="34" charset="-122"/>
                <a:cs typeface="Calibri" pitchFamily="34" charset="-120"/>
              </a:rPr>
              <a:t>Labs in-house, 9/1</a:t>
            </a:r>
            <a:endParaRPr lang="en-US" sz="1350" dirty="0"/>
          </a:p>
        </p:txBody>
      </p:sp>
      <p:sp>
        <p:nvSpPr>
          <p:cNvPr id="10" name="Text 8"/>
          <p:cNvSpPr/>
          <p:nvPr/>
        </p:nvSpPr>
        <p:spPr>
          <a:xfrm>
            <a:off x="850392" y="3255264"/>
            <a:ext cx="4852264" cy="402336"/>
          </a:xfrm>
          <a:prstGeom prst="rect">
            <a:avLst/>
          </a:prstGeom>
          <a:noFill/>
          <a:ln/>
        </p:spPr>
        <p:txBody>
          <a:bodyPr wrap="square" lIns="0" tIns="0" rIns="0" bIns="0" rtlCol="0" anchor="ctr"/>
          <a:lstStyle/>
          <a:p>
            <a:pPr indent="0" marL="0">
              <a:lnSpc>
                <a:spcPts val="1500"/>
              </a:lnSpc>
              <a:buNone/>
            </a:pPr>
            <a:r>
              <a:rPr lang="en-US" sz="1100" dirty="0">
                <a:solidFill>
                  <a:srgbClr val="3D423C"/>
                </a:solidFill>
                <a:latin typeface="Calibri" pitchFamily="34" charset="0"/>
                <a:ea typeface="Calibri" pitchFamily="34" charset="-122"/>
                <a:cs typeface="Calibri" pitchFamily="34" charset="-120"/>
              </a:rPr>
              <a:t>$3–5K a month. Room, equipment and phlebotomy training already scoped.</a:t>
            </a:r>
            <a:endParaRPr lang="en-US" sz="1100" dirty="0"/>
          </a:p>
        </p:txBody>
      </p:sp>
      <p:sp>
        <p:nvSpPr>
          <p:cNvPr id="11" name="Shape 9"/>
          <p:cNvSpPr/>
          <p:nvPr/>
        </p:nvSpPr>
        <p:spPr>
          <a:xfrm>
            <a:off x="6233008" y="2834640"/>
            <a:ext cx="5364328" cy="914400"/>
          </a:xfrm>
          <a:prstGeom prst="roundRect">
            <a:avLst>
              <a:gd name="adj" fmla="val 6000"/>
            </a:avLst>
          </a:prstGeom>
          <a:solidFill>
            <a:srgbClr val="EEF1EF"/>
          </a:solidFill>
          <a:ln w="12700">
            <a:solidFill>
              <a:srgbClr val="EEF1EF"/>
            </a:solidFill>
            <a:prstDash val="solid"/>
          </a:ln>
        </p:spPr>
      </p:sp>
      <p:sp>
        <p:nvSpPr>
          <p:cNvPr id="12" name="Text 10"/>
          <p:cNvSpPr/>
          <p:nvPr/>
        </p:nvSpPr>
        <p:spPr>
          <a:xfrm>
            <a:off x="6489040" y="2980944"/>
            <a:ext cx="4852264" cy="274320"/>
          </a:xfrm>
          <a:prstGeom prst="rect">
            <a:avLst/>
          </a:prstGeom>
          <a:noFill/>
          <a:ln/>
        </p:spPr>
        <p:txBody>
          <a:bodyPr wrap="square" lIns="0" tIns="0" rIns="0" bIns="0" rtlCol="0" anchor="ctr"/>
          <a:lstStyle/>
          <a:p>
            <a:pPr indent="0" marL="0">
              <a:buNone/>
            </a:pPr>
            <a:r>
              <a:rPr lang="en-US" sz="1350" b="1" dirty="0">
                <a:solidFill>
                  <a:srgbClr val="1F5B4E"/>
                </a:solidFill>
                <a:latin typeface="Calibri" pitchFamily="34" charset="0"/>
                <a:ea typeface="Calibri" pitchFamily="34" charset="-122"/>
                <a:cs typeface="Calibri" pitchFamily="34" charset="-120"/>
              </a:rPr>
              <a:t>Housekeeping 5 → 4</a:t>
            </a:r>
            <a:endParaRPr lang="en-US" sz="1350" dirty="0"/>
          </a:p>
        </p:txBody>
      </p:sp>
      <p:sp>
        <p:nvSpPr>
          <p:cNvPr id="13" name="Text 11"/>
          <p:cNvSpPr/>
          <p:nvPr/>
        </p:nvSpPr>
        <p:spPr>
          <a:xfrm>
            <a:off x="6489040" y="3255264"/>
            <a:ext cx="4852264" cy="402336"/>
          </a:xfrm>
          <a:prstGeom prst="rect">
            <a:avLst/>
          </a:prstGeom>
          <a:noFill/>
          <a:ln/>
        </p:spPr>
        <p:txBody>
          <a:bodyPr wrap="square" lIns="0" tIns="0" rIns="0" bIns="0" rtlCol="0" anchor="ctr"/>
          <a:lstStyle/>
          <a:p>
            <a:pPr indent="0" marL="0">
              <a:lnSpc>
                <a:spcPts val="1500"/>
              </a:lnSpc>
              <a:buNone/>
            </a:pPr>
            <a:r>
              <a:rPr lang="en-US" sz="1100" dirty="0">
                <a:solidFill>
                  <a:srgbClr val="3D423C"/>
                </a:solidFill>
                <a:latin typeface="Calibri" pitchFamily="34" charset="0"/>
                <a:ea typeface="Calibri" pitchFamily="34" charset="-122"/>
                <a:cs typeface="Calibri" pitchFamily="34" charset="-120"/>
              </a:rPr>
              <a:t>With better evening coverage, not worse. One floor each, laundry, and a float manager.</a:t>
            </a:r>
            <a:endParaRPr lang="en-US" sz="1100" dirty="0"/>
          </a:p>
        </p:txBody>
      </p:sp>
      <p:sp>
        <p:nvSpPr>
          <p:cNvPr id="14" name="Text 12"/>
          <p:cNvSpPr/>
          <p:nvPr/>
        </p:nvSpPr>
        <p:spPr>
          <a:xfrm>
            <a:off x="594360" y="3858768"/>
            <a:ext cx="11002975" cy="457200"/>
          </a:xfrm>
          <a:prstGeom prst="rect">
            <a:avLst/>
          </a:prstGeom>
          <a:noFill/>
          <a:ln/>
        </p:spPr>
        <p:txBody>
          <a:bodyPr wrap="square" lIns="0" tIns="0" rIns="0" bIns="0" rtlCol="0" anchor="ctr"/>
          <a:lstStyle/>
          <a:p>
            <a:pPr indent="0" marL="0">
              <a:lnSpc>
                <a:spcPts val="1700"/>
              </a:lnSpc>
              <a:buNone/>
            </a:pPr>
            <a:r>
              <a:rPr lang="en-US" sz="1200" dirty="0">
                <a:solidFill>
                  <a:srgbClr val="3D423C"/>
                </a:solidFill>
                <a:latin typeface="Calibri" pitchFamily="34" charset="0"/>
                <a:ea typeface="Calibri" pitchFamily="34" charset="-122"/>
                <a:cs typeface="Calibri" pitchFamily="34" charset="-120"/>
              </a:rPr>
              <a:t>Those savings survive the 100 days; a spending freeze does not. Then the census number: 75+ ADC, backed by the weekly decline review — the only mechanism in the cluster that tells you why you are not there.</a:t>
            </a:r>
            <a:endParaRPr lang="en-US" sz="1200" dirty="0"/>
          </a:p>
        </p:txBody>
      </p:sp>
      <p:sp>
        <p:nvSpPr>
          <p:cNvPr id="15" name="Shape 13"/>
          <p:cNvSpPr/>
          <p:nvPr/>
        </p:nvSpPr>
        <p:spPr>
          <a:xfrm>
            <a:off x="594360" y="4443984"/>
            <a:ext cx="5364328" cy="1517904"/>
          </a:xfrm>
          <a:prstGeom prst="roundRect">
            <a:avLst>
              <a:gd name="adj" fmla="val 3614"/>
            </a:avLst>
          </a:prstGeom>
          <a:solidFill>
            <a:srgbClr val="F7EBE3"/>
          </a:solidFill>
          <a:ln w="12700">
            <a:solidFill>
              <a:srgbClr val="F7EBE3"/>
            </a:solidFill>
            <a:prstDash val="solid"/>
          </a:ln>
        </p:spPr>
      </p:sp>
      <p:sp>
        <p:nvSpPr>
          <p:cNvPr id="16" name="Text 14"/>
          <p:cNvSpPr/>
          <p:nvPr/>
        </p:nvSpPr>
        <p:spPr>
          <a:xfrm>
            <a:off x="850392" y="4608576"/>
            <a:ext cx="4852264" cy="219456"/>
          </a:xfrm>
          <a:prstGeom prst="rect">
            <a:avLst/>
          </a:prstGeom>
          <a:noFill/>
          <a:ln/>
        </p:spPr>
        <p:txBody>
          <a:bodyPr wrap="square" lIns="0" tIns="0" rIns="0" bIns="0" rtlCol="0" anchor="ctr"/>
          <a:lstStyle/>
          <a:p>
            <a:pPr indent="0" marL="0">
              <a:buNone/>
            </a:pPr>
            <a:r>
              <a:rPr lang="en-US" sz="950" b="1" spc="140" kern="0" dirty="0">
                <a:solidFill>
                  <a:srgbClr val="A84A22"/>
                </a:solidFill>
                <a:latin typeface="Calibri" pitchFamily="34" charset="0"/>
                <a:ea typeface="Calibri" pitchFamily="34" charset="-122"/>
                <a:cs typeface="Calibri" pitchFamily="34" charset="-120"/>
              </a:rPr>
              <a:t>CLOSE BEFORE YOU PRESENT</a:t>
            </a:r>
            <a:endParaRPr lang="en-US" sz="950" dirty="0"/>
          </a:p>
        </p:txBody>
      </p:sp>
      <p:sp>
        <p:nvSpPr>
          <p:cNvPr id="17" name="Text 15"/>
          <p:cNvSpPr/>
          <p:nvPr/>
        </p:nvSpPr>
        <p:spPr>
          <a:xfrm>
            <a:off x="850392" y="4864608"/>
            <a:ext cx="4852264" cy="1005840"/>
          </a:xfrm>
          <a:prstGeom prst="rect">
            <a:avLst/>
          </a:prstGeom>
          <a:noFill/>
          <a:ln/>
        </p:spPr>
        <p:txBody>
          <a:bodyPr wrap="square" lIns="0" tIns="0" rIns="0" bIns="0" rtlCol="0" anchor="ctr"/>
          <a:lstStyle/>
          <a:p>
            <a:pPr marL="342900" indent="-342900">
              <a:lnSpc>
                <a:spcPts val="1500"/>
              </a:lnSpc>
              <a:spcAft>
                <a:spcPts val="500"/>
              </a:spcAft>
              <a:buSzPct val="100000"/>
              <a:buChar char="•"/>
            </a:pPr>
            <a:r>
              <a:rPr lang="en-US" sz="1100" b="1" dirty="0">
                <a:solidFill>
                  <a:srgbClr val="1E211D"/>
                </a:solidFill>
                <a:latin typeface="Calibri" pitchFamily="34" charset="0"/>
                <a:ea typeface="Calibri" pitchFamily="34" charset="-122"/>
                <a:cs typeface="Calibri" pitchFamily="34" charset="-120"/>
              </a:rPr>
              <a:t>No people number anywhere in the plan</a:t>
            </a:r>
            <a:pPr indent="0" marL="0">
              <a:lnSpc>
                <a:spcPts val="1500"/>
              </a:lnSpc>
              <a:spcAft>
                <a:spcPts val="500"/>
              </a:spcAft>
              <a:buNone/>
            </a:pPr>
            <a:r>
              <a:rPr lang="en-US" sz="1100" dirty="0">
                <a:solidFill>
                  <a:srgbClr val="3D423C"/>
                </a:solidFill>
                <a:latin typeface="Calibri" pitchFamily="34" charset="0"/>
                <a:ea typeface="Calibri" pitchFamily="34" charset="-122"/>
                <a:cs typeface="Calibri" pitchFamily="34" charset="-120"/>
              </a:rPr>
              <a:t> — no turnover, retention or open positions, while both peers have all three.</a:t>
            </a:r>
            <a:endParaRPr lang="en-US" sz="1100" dirty="0"/>
          </a:p>
          <a:p>
            <a:pPr indent="0" marL="0">
              <a:lnSpc>
                <a:spcPts val="1500"/>
              </a:lnSpc>
              <a:spcAft>
                <a:spcPts val="500"/>
              </a:spcAft>
              <a:buNone/>
            </a:pPr>
            <a:r>
              <a:rPr lang="en-US" sz="1100" b="1" dirty="0">
                <a:solidFill>
                  <a:srgbClr val="1E211D"/>
                </a:solidFill>
                <a:latin typeface="Calibri" pitchFamily="34" charset="0"/>
                <a:ea typeface="Calibri" pitchFamily="34" charset="-122"/>
                <a:cs typeface="Calibri" pitchFamily="34" charset="-120"/>
              </a:rPr>
              <a:t>Nothing is dollarized except the labs</a:t>
            </a:r>
            <a:pPr indent="0" marL="0">
              <a:lnSpc>
                <a:spcPts val="1500"/>
              </a:lnSpc>
              <a:spcAft>
                <a:spcPts val="500"/>
              </a:spcAft>
              <a:buNone/>
            </a:pPr>
            <a:r>
              <a:rPr lang="en-US" sz="1100" dirty="0">
                <a:solidFill>
                  <a:srgbClr val="3D423C"/>
                </a:solidFill>
                <a:latin typeface="Calibri" pitchFamily="34" charset="0"/>
                <a:ea typeface="Calibri" pitchFamily="34" charset="-122"/>
                <a:cs typeface="Calibri" pitchFamily="34" charset="-120"/>
              </a:rPr>
              <a:t> — put a monthly figure on housekeeping, overtime and missed lunches.</a:t>
            </a:r>
            <a:endParaRPr lang="en-US" sz="1100" dirty="0"/>
          </a:p>
        </p:txBody>
      </p:sp>
      <p:sp>
        <p:nvSpPr>
          <p:cNvPr id="18" name="Shape 16"/>
          <p:cNvSpPr/>
          <p:nvPr/>
        </p:nvSpPr>
        <p:spPr>
          <a:xfrm>
            <a:off x="6233008" y="4443984"/>
            <a:ext cx="5364328" cy="1517904"/>
          </a:xfrm>
          <a:prstGeom prst="roundRect">
            <a:avLst>
              <a:gd name="adj" fmla="val 3614"/>
            </a:avLst>
          </a:prstGeom>
          <a:solidFill>
            <a:srgbClr val="EEF1EF"/>
          </a:solidFill>
          <a:ln w="12700">
            <a:solidFill>
              <a:srgbClr val="EEF1EF"/>
            </a:solidFill>
            <a:prstDash val="solid"/>
          </a:ln>
        </p:spPr>
      </p:sp>
      <p:sp>
        <p:nvSpPr>
          <p:cNvPr id="19" name="Text 17"/>
          <p:cNvSpPr/>
          <p:nvPr/>
        </p:nvSpPr>
        <p:spPr>
          <a:xfrm>
            <a:off x="6489040" y="4608576"/>
            <a:ext cx="4852264" cy="219456"/>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ASK THE ROOM FOR</a:t>
            </a:r>
            <a:endParaRPr lang="en-US" sz="950" dirty="0"/>
          </a:p>
        </p:txBody>
      </p:sp>
      <p:sp>
        <p:nvSpPr>
          <p:cNvPr id="20" name="Text 18"/>
          <p:cNvSpPr/>
          <p:nvPr/>
        </p:nvSpPr>
        <p:spPr>
          <a:xfrm>
            <a:off x="6489040" y="4864608"/>
            <a:ext cx="4852264" cy="1005840"/>
          </a:xfrm>
          <a:prstGeom prst="rect">
            <a:avLst/>
          </a:prstGeom>
          <a:noFill/>
          <a:ln/>
        </p:spPr>
        <p:txBody>
          <a:bodyPr wrap="square" lIns="0" tIns="0" rIns="0" bIns="0" rtlCol="0" anchor="ctr"/>
          <a:lstStyle/>
          <a:p>
            <a:pPr indent="0" marL="0">
              <a:lnSpc>
                <a:spcPts val="1500"/>
              </a:lnSpc>
              <a:buNone/>
            </a:pPr>
            <a:r>
              <a:rPr lang="en-US" sz="1100" dirty="0">
                <a:solidFill>
                  <a:srgbClr val="3D423C"/>
                </a:solidFill>
                <a:latin typeface="Calibri" pitchFamily="34" charset="0"/>
                <a:ea typeface="Calibri" pitchFamily="34" charset="-122"/>
                <a:cs typeface="Calibri" pitchFamily="34" charset="-120"/>
              </a:rPr>
              <a:t>Peritoneal dialysis should not be an EPAR-only decision. If it works it is a cluster referral asset. Ask for shared legwork on the DaVita, legal and contracting path — and ask the other buildings to say now whether they would follow.</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1002975"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ADMINISTRATOR BRIEF</a:t>
            </a:r>
            <a:endParaRPr lang="en-US" sz="1100" dirty="0"/>
          </a:p>
        </p:txBody>
      </p:sp>
      <p:sp>
        <p:nvSpPr>
          <p:cNvPr id="3" name="Text 1"/>
          <p:cNvSpPr/>
          <p:nvPr/>
        </p:nvSpPr>
        <p:spPr>
          <a:xfrm>
            <a:off x="594360" y="658368"/>
            <a:ext cx="11002975" cy="566928"/>
          </a:xfrm>
          <a:prstGeom prst="rect">
            <a:avLst/>
          </a:prstGeom>
          <a:noFill/>
          <a:ln/>
        </p:spPr>
        <p:txBody>
          <a:bodyPr wrap="square" lIns="0" tIns="0" rIns="0" bIns="0" rtlCol="0" anchor="t"/>
          <a:lstStyle/>
          <a:p>
            <a:pPr indent="0" marL="0">
              <a:buNone/>
            </a:pPr>
            <a:r>
              <a:rPr lang="en-US" sz="3100" b="1" dirty="0">
                <a:solidFill>
                  <a:srgbClr val="1E211D"/>
                </a:solidFill>
                <a:latin typeface="Cambria" pitchFamily="34" charset="0"/>
                <a:ea typeface="Cambria" pitchFamily="34" charset="-122"/>
                <a:cs typeface="Cambria" pitchFamily="34" charset="-120"/>
              </a:rPr>
              <a:t>Littleton</a:t>
            </a:r>
            <a:endParaRPr lang="en-US" sz="3100" dirty="0"/>
          </a:p>
        </p:txBody>
      </p:sp>
      <p:sp>
        <p:nvSpPr>
          <p:cNvPr id="4" name="Text 2"/>
          <p:cNvSpPr/>
          <p:nvPr/>
        </p:nvSpPr>
        <p:spPr>
          <a:xfrm>
            <a:off x="594360" y="1207008"/>
            <a:ext cx="11002975" cy="274320"/>
          </a:xfrm>
          <a:prstGeom prst="rect">
            <a:avLst/>
          </a:prstGeom>
          <a:noFill/>
          <a:ln/>
        </p:spPr>
        <p:txBody>
          <a:bodyPr wrap="square" lIns="0" tIns="0" rIns="0" bIns="0" rtlCol="0" anchor="ctr"/>
          <a:lstStyle/>
          <a:p>
            <a:pPr indent="0" marL="0">
              <a:buNone/>
            </a:pPr>
            <a:r>
              <a:rPr lang="en-US" sz="1250" i="1" dirty="0">
                <a:solidFill>
                  <a:srgbClr val="6E746D"/>
                </a:solidFill>
                <a:latin typeface="Calibri" pitchFamily="34" charset="0"/>
                <a:ea typeface="Calibri" pitchFamily="34" charset="-122"/>
                <a:cs typeface="Calibri" pitchFamily="34" charset="-120"/>
              </a:rPr>
              <a:t>The only plan that treats people as the strategy rather than a line item.</a:t>
            </a:r>
            <a:endParaRPr lang="en-US" sz="1250" dirty="0"/>
          </a:p>
        </p:txBody>
      </p:sp>
      <p:sp>
        <p:nvSpPr>
          <p:cNvPr id="5" name="Shape 3"/>
          <p:cNvSpPr/>
          <p:nvPr/>
        </p:nvSpPr>
        <p:spPr>
          <a:xfrm>
            <a:off x="594360" y="1627632"/>
            <a:ext cx="11002975" cy="1060704"/>
          </a:xfrm>
          <a:prstGeom prst="roundRect">
            <a:avLst>
              <a:gd name="adj" fmla="val 5172"/>
            </a:avLst>
          </a:prstGeom>
          <a:solidFill>
            <a:srgbClr val="143D34"/>
          </a:solidFill>
          <a:ln w="12700">
            <a:solidFill>
              <a:srgbClr val="143D34"/>
            </a:solidFill>
            <a:prstDash val="solid"/>
          </a:ln>
        </p:spPr>
      </p:sp>
      <p:sp>
        <p:nvSpPr>
          <p:cNvPr id="6" name="Text 4"/>
          <p:cNvSpPr/>
          <p:nvPr/>
        </p:nvSpPr>
        <p:spPr>
          <a:xfrm>
            <a:off x="978408" y="1773936"/>
            <a:ext cx="2743200" cy="219456"/>
          </a:xfrm>
          <a:prstGeom prst="rect">
            <a:avLst/>
          </a:prstGeom>
          <a:noFill/>
          <a:ln/>
        </p:spPr>
        <p:txBody>
          <a:bodyPr wrap="square" lIns="0" tIns="0" rIns="0" bIns="0" rtlCol="0" anchor="ctr"/>
          <a:lstStyle/>
          <a:p>
            <a:pPr indent="0" marL="0">
              <a:buNone/>
            </a:pPr>
            <a:r>
              <a:rPr lang="en-US" sz="1000" b="1" spc="240" kern="0" dirty="0">
                <a:solidFill>
                  <a:srgbClr val="6BB9A2"/>
                </a:solidFill>
                <a:latin typeface="Calibri" pitchFamily="34" charset="0"/>
                <a:ea typeface="Calibri" pitchFamily="34" charset="-122"/>
                <a:cs typeface="Calibri" pitchFamily="34" charset="-120"/>
              </a:rPr>
              <a:t>LEAD WITH</a:t>
            </a:r>
            <a:endParaRPr lang="en-US" sz="1000" dirty="0"/>
          </a:p>
        </p:txBody>
      </p:sp>
      <p:sp>
        <p:nvSpPr>
          <p:cNvPr id="7" name="Text 5"/>
          <p:cNvSpPr/>
          <p:nvPr/>
        </p:nvSpPr>
        <p:spPr>
          <a:xfrm>
            <a:off x="978408" y="2011680"/>
            <a:ext cx="10234879" cy="640080"/>
          </a:xfrm>
          <a:prstGeom prst="rect">
            <a:avLst/>
          </a:prstGeom>
          <a:noFill/>
          <a:ln/>
        </p:spPr>
        <p:txBody>
          <a:bodyPr wrap="square" lIns="0" tIns="0" rIns="0" bIns="0" rtlCol="0" anchor="ctr"/>
          <a:lstStyle/>
          <a:p>
            <a:pPr indent="0" marL="0">
              <a:buNone/>
            </a:pPr>
            <a:r>
              <a:rPr lang="en-US" sz="1850" i="1" dirty="0">
                <a:solidFill>
                  <a:srgbClr val="FFFFFF"/>
                </a:solidFill>
                <a:latin typeface="Cambria" pitchFamily="34" charset="0"/>
                <a:ea typeface="Cambria" pitchFamily="34" charset="-122"/>
                <a:cs typeface="Cambria" pitchFamily="34" charset="-120"/>
              </a:rPr>
              <a:t>“Agency from $17 per patient day to under $2. That is not a purchasing fix. It is a retention fix.”</a:t>
            </a:r>
            <a:endParaRPr lang="en-US" sz="1850" dirty="0"/>
          </a:p>
        </p:txBody>
      </p:sp>
      <p:sp>
        <p:nvSpPr>
          <p:cNvPr id="8" name="Shape 6"/>
          <p:cNvSpPr/>
          <p:nvPr/>
        </p:nvSpPr>
        <p:spPr>
          <a:xfrm>
            <a:off x="594360" y="2834640"/>
            <a:ext cx="5394960" cy="3127248"/>
          </a:xfrm>
          <a:prstGeom prst="roundRect">
            <a:avLst>
              <a:gd name="adj" fmla="val 1754"/>
            </a:avLst>
          </a:prstGeom>
          <a:solidFill>
            <a:srgbClr val="EEF1EF"/>
          </a:solidFill>
          <a:ln w="12700">
            <a:solidFill>
              <a:srgbClr val="EEF1EF"/>
            </a:solidFill>
            <a:prstDash val="solid"/>
          </a:ln>
        </p:spPr>
      </p:sp>
      <p:sp>
        <p:nvSpPr>
          <p:cNvPr id="9" name="Text 7"/>
          <p:cNvSpPr/>
          <p:nvPr/>
        </p:nvSpPr>
        <p:spPr>
          <a:xfrm>
            <a:off x="832104" y="2980944"/>
            <a:ext cx="4919472" cy="219456"/>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CASH COLLECTIONS, % OF TARGET</a:t>
            </a:r>
            <a:endParaRPr lang="en-US" sz="950" dirty="0"/>
          </a:p>
        </p:txBody>
      </p:sp>
      <p:graphicFrame>
        <p:nvGraphicFramePr>
          <p:cNvPr id="10" name="Chart 0" descr=""/>
          <p:cNvGraphicFramePr/>
          <p:nvPr/>
        </p:nvGraphicFramePr>
        <p:xfrm>
          <a:off x="740664" y="3255264"/>
          <a:ext cx="5102352" cy="210312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p:nvPr/>
        </p:nvSpPr>
        <p:spPr>
          <a:xfrm>
            <a:off x="832104" y="5431536"/>
            <a:ext cx="4919472" cy="384048"/>
          </a:xfrm>
          <a:prstGeom prst="rect">
            <a:avLst/>
          </a:prstGeom>
          <a:noFill/>
          <a:ln/>
        </p:spPr>
        <p:txBody>
          <a:bodyPr wrap="square" lIns="0" tIns="0" rIns="0" bIns="0" rtlCol="0" anchor="ctr"/>
          <a:lstStyle/>
          <a:p>
            <a:pPr indent="0" marL="0">
              <a:lnSpc>
                <a:spcPts val="1400"/>
              </a:lnSpc>
              <a:buNone/>
            </a:pPr>
            <a:r>
              <a:rPr lang="en-US" sz="1050" i="1" dirty="0">
                <a:solidFill>
                  <a:srgbClr val="3D423C"/>
                </a:solidFill>
                <a:latin typeface="Calibri" pitchFamily="34" charset="0"/>
                <a:ea typeface="Calibri" pitchFamily="34" charset="-122"/>
                <a:cs typeface="Calibri" pitchFamily="34" charset="-120"/>
              </a:rPr>
              <a:t>Six-month average 94%. Present the volatility, not the average — consistency is the goal.</a:t>
            </a:r>
            <a:endParaRPr lang="en-US" sz="1050" dirty="0"/>
          </a:p>
        </p:txBody>
      </p:sp>
      <p:sp>
        <p:nvSpPr>
          <p:cNvPr id="12" name="Shape 9"/>
          <p:cNvSpPr/>
          <p:nvPr/>
        </p:nvSpPr>
        <p:spPr>
          <a:xfrm>
            <a:off x="6263640" y="2834640"/>
            <a:ext cx="5333695" cy="1810512"/>
          </a:xfrm>
          <a:prstGeom prst="roundRect">
            <a:avLst>
              <a:gd name="adj" fmla="val 3030"/>
            </a:avLst>
          </a:prstGeom>
          <a:solidFill>
            <a:srgbClr val="F7EBE3"/>
          </a:solidFill>
          <a:ln w="12700">
            <a:solidFill>
              <a:srgbClr val="F7EBE3"/>
            </a:solidFill>
            <a:prstDash val="solid"/>
          </a:ln>
        </p:spPr>
      </p:sp>
      <p:sp>
        <p:nvSpPr>
          <p:cNvPr id="13" name="Text 10"/>
          <p:cNvSpPr/>
          <p:nvPr/>
        </p:nvSpPr>
        <p:spPr>
          <a:xfrm>
            <a:off x="6519672" y="2980944"/>
            <a:ext cx="4821631" cy="219456"/>
          </a:xfrm>
          <a:prstGeom prst="rect">
            <a:avLst/>
          </a:prstGeom>
          <a:noFill/>
          <a:ln/>
        </p:spPr>
        <p:txBody>
          <a:bodyPr wrap="square" lIns="0" tIns="0" rIns="0" bIns="0" rtlCol="0" anchor="ctr"/>
          <a:lstStyle/>
          <a:p>
            <a:pPr indent="0" marL="0">
              <a:buNone/>
            </a:pPr>
            <a:r>
              <a:rPr lang="en-US" sz="950" b="1" spc="140" kern="0" dirty="0">
                <a:solidFill>
                  <a:srgbClr val="A84A22"/>
                </a:solidFill>
                <a:latin typeface="Calibri" pitchFamily="34" charset="0"/>
                <a:ea typeface="Calibri" pitchFamily="34" charset="-122"/>
                <a:cs typeface="Calibri" pitchFamily="34" charset="-120"/>
              </a:rPr>
              <a:t>FIX BEFORE IT CIRCULATES</a:t>
            </a:r>
            <a:endParaRPr lang="en-US" sz="950" dirty="0"/>
          </a:p>
        </p:txBody>
      </p:sp>
      <p:sp>
        <p:nvSpPr>
          <p:cNvPr id="14" name="Text 11"/>
          <p:cNvSpPr/>
          <p:nvPr/>
        </p:nvSpPr>
        <p:spPr>
          <a:xfrm>
            <a:off x="6519672" y="3255264"/>
            <a:ext cx="4821631" cy="1298448"/>
          </a:xfrm>
          <a:prstGeom prst="rect">
            <a:avLst/>
          </a:prstGeom>
          <a:noFill/>
          <a:ln/>
        </p:spPr>
        <p:txBody>
          <a:bodyPr wrap="square" lIns="0" tIns="0" rIns="0" bIns="0" rtlCol="0" anchor="ctr"/>
          <a:lstStyle/>
          <a:p>
            <a:pPr marL="342900" indent="-342900">
              <a:lnSpc>
                <a:spcPts val="1400"/>
              </a:lnSpc>
              <a:spcAft>
                <a:spcPts val="400"/>
              </a:spcAft>
              <a:buSzPct val="100000"/>
              <a:buChar char="•"/>
            </a:pPr>
            <a:r>
              <a:rPr lang="en-US" sz="1050" dirty="0">
                <a:solidFill>
                  <a:srgbClr val="3D423C"/>
                </a:solidFill>
                <a:latin typeface="Calibri" pitchFamily="34" charset="0"/>
                <a:ea typeface="Calibri" pitchFamily="34" charset="-122"/>
                <a:cs typeface="Calibri" pitchFamily="34" charset="-120"/>
              </a:rPr>
              <a:t>Medicare census reads 8+ in the narrative, 10+ in the metrics table.</a:t>
            </a:r>
            <a:endParaRPr lang="en-US" sz="1050" dirty="0"/>
          </a:p>
          <a:p>
            <a:pPr indent="0" marL="0">
              <a:lnSpc>
                <a:spcPts val="1400"/>
              </a:lnSpc>
              <a:spcAft>
                <a:spcPts val="400"/>
              </a:spcAft>
              <a:buNone/>
            </a:pPr>
            <a:r>
              <a:rPr lang="en-US" sz="1050" dirty="0">
                <a:solidFill>
                  <a:srgbClr val="3D423C"/>
                </a:solidFill>
                <a:latin typeface="Calibri" pitchFamily="34" charset="0"/>
                <a:ea typeface="Calibri" pitchFamily="34" charset="-122"/>
                <a:cs typeface="Calibri" pitchFamily="34" charset="-120"/>
              </a:rPr>
              <a:t>Turnover reads &lt;30% in the narrative, &lt;20% in the table.</a:t>
            </a:r>
            <a:endParaRPr lang="en-US" sz="1050" dirty="0"/>
          </a:p>
          <a:p>
            <a:pPr indent="0" marL="0">
              <a:lnSpc>
                <a:spcPts val="1400"/>
              </a:lnSpc>
              <a:spcAft>
                <a:spcPts val="400"/>
              </a:spcAft>
              <a:buNone/>
            </a:pPr>
            <a:r>
              <a:rPr lang="en-US" sz="1050" dirty="0">
                <a:solidFill>
                  <a:srgbClr val="3D423C"/>
                </a:solidFill>
                <a:latin typeface="Calibri" pitchFamily="34" charset="0"/>
                <a:ea typeface="Calibri" pitchFamily="34" charset="-122"/>
                <a:cs typeface="Calibri" pitchFamily="34" charset="-120"/>
              </a:rPr>
              <a:t>Agency reads &lt;$2 WPPD in the narrative, &lt;$2,000/month in the table — different units.</a:t>
            </a:r>
            <a:endParaRPr lang="en-US" sz="1050" dirty="0"/>
          </a:p>
          <a:p>
            <a:pPr indent="0" marL="0">
              <a:lnSpc>
                <a:spcPts val="1400"/>
              </a:lnSpc>
              <a:spcAft>
                <a:spcPts val="400"/>
              </a:spcAft>
              <a:buNone/>
            </a:pPr>
            <a:r>
              <a:rPr lang="en-US" sz="1050" dirty="0">
                <a:solidFill>
                  <a:srgbClr val="3D423C"/>
                </a:solidFill>
                <a:latin typeface="Calibri" pitchFamily="34" charset="0"/>
                <a:ea typeface="Calibri" pitchFamily="34" charset="-122"/>
                <a:cs typeface="Calibri" pitchFamily="34" charset="-120"/>
              </a:rPr>
              <a:t>No bad debt target, and no census baseline. You are the only building without a starting number.</a:t>
            </a:r>
            <a:endParaRPr lang="en-US" sz="1050" dirty="0"/>
          </a:p>
        </p:txBody>
      </p:sp>
      <p:sp>
        <p:nvSpPr>
          <p:cNvPr id="15" name="Shape 12"/>
          <p:cNvSpPr/>
          <p:nvPr/>
        </p:nvSpPr>
        <p:spPr>
          <a:xfrm>
            <a:off x="6263640" y="4791456"/>
            <a:ext cx="5333695" cy="1170432"/>
          </a:xfrm>
          <a:prstGeom prst="roundRect">
            <a:avLst>
              <a:gd name="adj" fmla="val 4688"/>
            </a:avLst>
          </a:prstGeom>
          <a:solidFill>
            <a:srgbClr val="EEF1EF"/>
          </a:solidFill>
          <a:ln w="12700">
            <a:solidFill>
              <a:srgbClr val="EEF1EF"/>
            </a:solidFill>
            <a:prstDash val="solid"/>
          </a:ln>
        </p:spPr>
      </p:sp>
      <p:sp>
        <p:nvSpPr>
          <p:cNvPr id="16" name="Text 13"/>
          <p:cNvSpPr/>
          <p:nvPr/>
        </p:nvSpPr>
        <p:spPr>
          <a:xfrm>
            <a:off x="6519672" y="4937760"/>
            <a:ext cx="4821631" cy="219456"/>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ASK THE ROOM FOR</a:t>
            </a:r>
            <a:endParaRPr lang="en-US" sz="950" dirty="0"/>
          </a:p>
        </p:txBody>
      </p:sp>
      <p:sp>
        <p:nvSpPr>
          <p:cNvPr id="17" name="Text 14"/>
          <p:cNvSpPr/>
          <p:nvPr/>
        </p:nvSpPr>
        <p:spPr>
          <a:xfrm>
            <a:off x="6519672" y="5193792"/>
            <a:ext cx="4821631" cy="694944"/>
          </a:xfrm>
          <a:prstGeom prst="rect">
            <a:avLst/>
          </a:prstGeom>
          <a:noFill/>
          <a:ln/>
        </p:spPr>
        <p:txBody>
          <a:bodyPr wrap="square" lIns="0" tIns="0" rIns="0" bIns="0" rtlCol="0" anchor="ctr"/>
          <a:lstStyle/>
          <a:p>
            <a:pPr indent="0" marL="0">
              <a:lnSpc>
                <a:spcPts val="1500"/>
              </a:lnSpc>
              <a:buNone/>
            </a:pPr>
            <a:r>
              <a:rPr lang="en-US" sz="1100" dirty="0">
                <a:solidFill>
                  <a:srgbClr val="3D423C"/>
                </a:solidFill>
                <a:latin typeface="Calibri" pitchFamily="34" charset="0"/>
                <a:ea typeface="Calibri" pitchFamily="34" charset="-122"/>
                <a:cs typeface="Calibri" pitchFamily="34" charset="-120"/>
              </a:rPr>
              <a:t>Offer your onboarding and retention machinery as the cluster standard — then ask them to fund a shared recruiting push against your six open positions plus Julia Temple's eight.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1002975"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ADMINISTRATOR BRIEF</a:t>
            </a:r>
            <a:endParaRPr lang="en-US" sz="1100" dirty="0"/>
          </a:p>
        </p:txBody>
      </p:sp>
      <p:sp>
        <p:nvSpPr>
          <p:cNvPr id="3" name="Text 1"/>
          <p:cNvSpPr/>
          <p:nvPr/>
        </p:nvSpPr>
        <p:spPr>
          <a:xfrm>
            <a:off x="594360" y="658368"/>
            <a:ext cx="11002975" cy="566928"/>
          </a:xfrm>
          <a:prstGeom prst="rect">
            <a:avLst/>
          </a:prstGeom>
          <a:noFill/>
          <a:ln/>
        </p:spPr>
        <p:txBody>
          <a:bodyPr wrap="square" lIns="0" tIns="0" rIns="0" bIns="0" rtlCol="0" anchor="t"/>
          <a:lstStyle/>
          <a:p>
            <a:pPr indent="0" marL="0">
              <a:buNone/>
            </a:pPr>
            <a:r>
              <a:rPr lang="en-US" sz="3100" b="1" dirty="0">
                <a:solidFill>
                  <a:srgbClr val="1E211D"/>
                </a:solidFill>
                <a:latin typeface="Cambria" pitchFamily="34" charset="0"/>
                <a:ea typeface="Cambria" pitchFamily="34" charset="-122"/>
                <a:cs typeface="Cambria" pitchFamily="34" charset="-120"/>
              </a:rPr>
              <a:t>Julia Temple</a:t>
            </a:r>
            <a:endParaRPr lang="en-US" sz="3100" dirty="0"/>
          </a:p>
        </p:txBody>
      </p:sp>
      <p:sp>
        <p:nvSpPr>
          <p:cNvPr id="4" name="Text 2"/>
          <p:cNvSpPr/>
          <p:nvPr/>
        </p:nvSpPr>
        <p:spPr>
          <a:xfrm>
            <a:off x="594360" y="1207008"/>
            <a:ext cx="11002975" cy="274320"/>
          </a:xfrm>
          <a:prstGeom prst="rect">
            <a:avLst/>
          </a:prstGeom>
          <a:noFill/>
          <a:ln/>
        </p:spPr>
        <p:txBody>
          <a:bodyPr wrap="square" lIns="0" tIns="0" rIns="0" bIns="0" rtlCol="0" anchor="ctr"/>
          <a:lstStyle/>
          <a:p>
            <a:pPr indent="0" marL="0">
              <a:buNone/>
            </a:pPr>
            <a:r>
              <a:rPr lang="en-US" sz="1250" i="1" dirty="0">
                <a:solidFill>
                  <a:srgbClr val="6E746D"/>
                </a:solidFill>
                <a:latin typeface="Calibri" pitchFamily="34" charset="0"/>
                <a:ea typeface="Calibri" pitchFamily="34" charset="-122"/>
                <a:cs typeface="Calibri" pitchFamily="34" charset="-120"/>
              </a:rPr>
              <a:t>The only plan that shows its math — and the most persuasive document in the cluster.</a:t>
            </a:r>
            <a:endParaRPr lang="en-US" sz="1250" dirty="0"/>
          </a:p>
        </p:txBody>
      </p:sp>
      <p:sp>
        <p:nvSpPr>
          <p:cNvPr id="5" name="Shape 3"/>
          <p:cNvSpPr/>
          <p:nvPr/>
        </p:nvSpPr>
        <p:spPr>
          <a:xfrm>
            <a:off x="594360" y="1627632"/>
            <a:ext cx="11002975" cy="1060704"/>
          </a:xfrm>
          <a:prstGeom prst="roundRect">
            <a:avLst>
              <a:gd name="adj" fmla="val 5172"/>
            </a:avLst>
          </a:prstGeom>
          <a:solidFill>
            <a:srgbClr val="143D34"/>
          </a:solidFill>
          <a:ln w="12700">
            <a:solidFill>
              <a:srgbClr val="143D34"/>
            </a:solidFill>
            <a:prstDash val="solid"/>
          </a:ln>
        </p:spPr>
      </p:sp>
      <p:sp>
        <p:nvSpPr>
          <p:cNvPr id="6" name="Text 4"/>
          <p:cNvSpPr/>
          <p:nvPr/>
        </p:nvSpPr>
        <p:spPr>
          <a:xfrm>
            <a:off x="978408" y="1773936"/>
            <a:ext cx="2743200" cy="219456"/>
          </a:xfrm>
          <a:prstGeom prst="rect">
            <a:avLst/>
          </a:prstGeom>
          <a:noFill/>
          <a:ln/>
        </p:spPr>
        <p:txBody>
          <a:bodyPr wrap="square" lIns="0" tIns="0" rIns="0" bIns="0" rtlCol="0" anchor="ctr"/>
          <a:lstStyle/>
          <a:p>
            <a:pPr indent="0" marL="0">
              <a:buNone/>
            </a:pPr>
            <a:r>
              <a:rPr lang="en-US" sz="1000" b="1" spc="240" kern="0" dirty="0">
                <a:solidFill>
                  <a:srgbClr val="6BB9A2"/>
                </a:solidFill>
                <a:latin typeface="Calibri" pitchFamily="34" charset="0"/>
                <a:ea typeface="Calibri" pitchFamily="34" charset="-122"/>
                <a:cs typeface="Calibri" pitchFamily="34" charset="-120"/>
              </a:rPr>
              <a:t>LEAD WITH</a:t>
            </a:r>
            <a:endParaRPr lang="en-US" sz="1000" dirty="0"/>
          </a:p>
        </p:txBody>
      </p:sp>
      <p:sp>
        <p:nvSpPr>
          <p:cNvPr id="7" name="Text 5"/>
          <p:cNvSpPr/>
          <p:nvPr/>
        </p:nvSpPr>
        <p:spPr>
          <a:xfrm>
            <a:off x="978408" y="2011680"/>
            <a:ext cx="10234879" cy="640080"/>
          </a:xfrm>
          <a:prstGeom prst="rect">
            <a:avLst/>
          </a:prstGeom>
          <a:noFill/>
          <a:ln/>
        </p:spPr>
        <p:txBody>
          <a:bodyPr wrap="square" lIns="0" tIns="0" rIns="0" bIns="0" rtlCol="0" anchor="ctr"/>
          <a:lstStyle/>
          <a:p>
            <a:pPr indent="0" marL="0">
              <a:buNone/>
            </a:pPr>
            <a:r>
              <a:rPr lang="en-US" sz="1650" i="1" dirty="0">
                <a:solidFill>
                  <a:srgbClr val="FFFFFF"/>
                </a:solidFill>
                <a:latin typeface="Cambria" pitchFamily="34" charset="0"/>
                <a:ea typeface="Cambria" pitchFamily="34" charset="-122"/>
                <a:cs typeface="Cambria" pitchFamily="34" charset="-120"/>
              </a:rPr>
              <a:t>“102 and 16 today. 107/19 in August, 112/21 in September, 118/24 in October, 120/25 in November. That is $245,000 a month.”</a:t>
            </a:r>
            <a:endParaRPr lang="en-US" sz="1650" dirty="0"/>
          </a:p>
        </p:txBody>
      </p:sp>
      <p:sp>
        <p:nvSpPr>
          <p:cNvPr id="8" name="Shape 6"/>
          <p:cNvSpPr/>
          <p:nvPr/>
        </p:nvSpPr>
        <p:spPr>
          <a:xfrm>
            <a:off x="594360" y="2834640"/>
            <a:ext cx="5394960" cy="3127248"/>
          </a:xfrm>
          <a:prstGeom prst="roundRect">
            <a:avLst>
              <a:gd name="adj" fmla="val 1754"/>
            </a:avLst>
          </a:prstGeom>
          <a:solidFill>
            <a:srgbClr val="EEF1EF"/>
          </a:solidFill>
          <a:ln w="12700">
            <a:solidFill>
              <a:srgbClr val="EEF1EF"/>
            </a:solidFill>
            <a:prstDash val="solid"/>
          </a:ln>
        </p:spPr>
      </p:sp>
      <p:sp>
        <p:nvSpPr>
          <p:cNvPr id="9" name="Text 7"/>
          <p:cNvSpPr/>
          <p:nvPr/>
        </p:nvSpPr>
        <p:spPr>
          <a:xfrm>
            <a:off x="832104" y="2980944"/>
            <a:ext cx="4919472" cy="219456"/>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THE CENSUS LADDER</a:t>
            </a:r>
            <a:endParaRPr lang="en-US" sz="950" dirty="0"/>
          </a:p>
        </p:txBody>
      </p:sp>
      <p:graphicFrame>
        <p:nvGraphicFramePr>
          <p:cNvPr id="10" name="Chart 0" descr=""/>
          <p:cNvGraphicFramePr/>
          <p:nvPr/>
        </p:nvGraphicFramePr>
        <p:xfrm>
          <a:off x="740664" y="3255264"/>
          <a:ext cx="5102352" cy="210312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p:nvPr/>
        </p:nvSpPr>
        <p:spPr>
          <a:xfrm>
            <a:off x="832104" y="5431536"/>
            <a:ext cx="4919472" cy="384048"/>
          </a:xfrm>
          <a:prstGeom prst="rect">
            <a:avLst/>
          </a:prstGeom>
          <a:noFill/>
          <a:ln/>
        </p:spPr>
        <p:txBody>
          <a:bodyPr wrap="square" lIns="0" tIns="0" rIns="0" bIns="0" rtlCol="0" anchor="ctr"/>
          <a:lstStyle/>
          <a:p>
            <a:pPr indent="0" marL="0">
              <a:lnSpc>
                <a:spcPts val="1400"/>
              </a:lnSpc>
              <a:buNone/>
            </a:pPr>
            <a:r>
              <a:rPr lang="en-US" sz="1050" i="1" dirty="0">
                <a:solidFill>
                  <a:srgbClr val="3D423C"/>
                </a:solidFill>
                <a:latin typeface="Calibri" pitchFamily="34" charset="0"/>
                <a:ea typeface="Calibri" pitchFamily="34" charset="-122"/>
                <a:cs typeface="Calibri" pitchFamily="34" charset="-120"/>
              </a:rPr>
              <a:t>Milestones make the plan checkable — exactly what a new cluster needs from its largest building.</a:t>
            </a:r>
            <a:endParaRPr lang="en-US" sz="1050" dirty="0"/>
          </a:p>
        </p:txBody>
      </p:sp>
      <p:sp>
        <p:nvSpPr>
          <p:cNvPr id="12" name="Shape 9"/>
          <p:cNvSpPr/>
          <p:nvPr/>
        </p:nvSpPr>
        <p:spPr>
          <a:xfrm>
            <a:off x="6263640" y="2834640"/>
            <a:ext cx="5333695" cy="1170432"/>
          </a:xfrm>
          <a:prstGeom prst="roundRect">
            <a:avLst>
              <a:gd name="adj" fmla="val 4688"/>
            </a:avLst>
          </a:prstGeom>
          <a:solidFill>
            <a:srgbClr val="EEF1EF"/>
          </a:solidFill>
          <a:ln w="12700">
            <a:solidFill>
              <a:srgbClr val="EEF1EF"/>
            </a:solidFill>
            <a:prstDash val="solid"/>
          </a:ln>
        </p:spPr>
      </p:sp>
      <p:sp>
        <p:nvSpPr>
          <p:cNvPr id="13" name="Text 10"/>
          <p:cNvSpPr/>
          <p:nvPr/>
        </p:nvSpPr>
        <p:spPr>
          <a:xfrm>
            <a:off x="6519672" y="2980944"/>
            <a:ext cx="4821631" cy="219456"/>
          </a:xfrm>
          <a:prstGeom prst="rect">
            <a:avLst/>
          </a:prstGeom>
          <a:noFill/>
          <a:ln/>
        </p:spPr>
        <p:txBody>
          <a:bodyPr wrap="square" lIns="0" tIns="0" rIns="0" bIns="0" rtlCol="0" anchor="ctr"/>
          <a:lstStyle/>
          <a:p>
            <a:pPr indent="0" marL="0">
              <a:buNone/>
            </a:pPr>
            <a:r>
              <a:rPr lang="en-US" sz="950" b="1" spc="140" kern="0" dirty="0">
                <a:solidFill>
                  <a:srgbClr val="1F5B4E"/>
                </a:solidFill>
                <a:latin typeface="Calibri" pitchFamily="34" charset="0"/>
                <a:ea typeface="Calibri" pitchFamily="34" charset="-122"/>
                <a:cs typeface="Calibri" pitchFamily="34" charset="-120"/>
              </a:rPr>
              <a:t>ALSO ALREADY DOLLARIZED</a:t>
            </a:r>
            <a:endParaRPr lang="en-US" sz="950" dirty="0"/>
          </a:p>
        </p:txBody>
      </p:sp>
      <p:sp>
        <p:nvSpPr>
          <p:cNvPr id="14" name="Text 11"/>
          <p:cNvSpPr/>
          <p:nvPr/>
        </p:nvSpPr>
        <p:spPr>
          <a:xfrm>
            <a:off x="6519672" y="3236976"/>
            <a:ext cx="4821631" cy="694944"/>
          </a:xfrm>
          <a:prstGeom prst="rect">
            <a:avLst/>
          </a:prstGeom>
          <a:noFill/>
          <a:ln/>
        </p:spPr>
        <p:txBody>
          <a:bodyPr wrap="square" lIns="0" tIns="0" rIns="0" bIns="0" rtlCol="0" anchor="ctr"/>
          <a:lstStyle/>
          <a:p>
            <a:pPr indent="0" marL="0">
              <a:lnSpc>
                <a:spcPts val="1500"/>
              </a:lnSpc>
              <a:buNone/>
            </a:pPr>
            <a:r>
              <a:rPr lang="en-US" sz="1100" dirty="0">
                <a:solidFill>
                  <a:srgbClr val="3D423C"/>
                </a:solidFill>
                <a:latin typeface="Calibri" pitchFamily="34" charset="0"/>
                <a:ea typeface="Calibri" pitchFamily="34" charset="-122"/>
                <a:cs typeface="Calibri" pitchFamily="34" charset="-120"/>
              </a:rPr>
              <a:t>Bad debt 2% → 1% is $14,000 a month of EBT. Overtime 14.4% → 10% is roughly $15,000 a month. Around $274,000 a month identified, with the arithmetic shown. Nobody else in the room can say that.</a:t>
            </a:r>
            <a:endParaRPr lang="en-US" sz="1100" dirty="0"/>
          </a:p>
        </p:txBody>
      </p:sp>
      <p:sp>
        <p:nvSpPr>
          <p:cNvPr id="15" name="Shape 12"/>
          <p:cNvSpPr/>
          <p:nvPr/>
        </p:nvSpPr>
        <p:spPr>
          <a:xfrm>
            <a:off x="6263640" y="4151376"/>
            <a:ext cx="5333695" cy="1810512"/>
          </a:xfrm>
          <a:prstGeom prst="roundRect">
            <a:avLst>
              <a:gd name="adj" fmla="val 3030"/>
            </a:avLst>
          </a:prstGeom>
          <a:solidFill>
            <a:srgbClr val="F7EBE3"/>
          </a:solidFill>
          <a:ln w="12700">
            <a:solidFill>
              <a:srgbClr val="F7EBE3"/>
            </a:solidFill>
            <a:prstDash val="solid"/>
          </a:ln>
        </p:spPr>
      </p:sp>
      <p:sp>
        <p:nvSpPr>
          <p:cNvPr id="16" name="Text 13"/>
          <p:cNvSpPr/>
          <p:nvPr/>
        </p:nvSpPr>
        <p:spPr>
          <a:xfrm>
            <a:off x="6519672" y="4297680"/>
            <a:ext cx="4821631" cy="219456"/>
          </a:xfrm>
          <a:prstGeom prst="rect">
            <a:avLst/>
          </a:prstGeom>
          <a:noFill/>
          <a:ln/>
        </p:spPr>
        <p:txBody>
          <a:bodyPr wrap="square" lIns="0" tIns="0" rIns="0" bIns="0" rtlCol="0" anchor="ctr"/>
          <a:lstStyle/>
          <a:p>
            <a:pPr indent="0" marL="0">
              <a:buNone/>
            </a:pPr>
            <a:r>
              <a:rPr lang="en-US" sz="950" b="1" spc="140" kern="0" dirty="0">
                <a:solidFill>
                  <a:srgbClr val="A84A22"/>
                </a:solidFill>
                <a:latin typeface="Calibri" pitchFamily="34" charset="0"/>
                <a:ea typeface="Calibri" pitchFamily="34" charset="-122"/>
                <a:cs typeface="Calibri" pitchFamily="34" charset="-120"/>
              </a:rPr>
              <a:t>RESOLVE BEFORE THE ROOM, NOT IN IT</a:t>
            </a:r>
            <a:endParaRPr lang="en-US" sz="950" dirty="0"/>
          </a:p>
        </p:txBody>
      </p:sp>
      <p:sp>
        <p:nvSpPr>
          <p:cNvPr id="17" name="Text 14"/>
          <p:cNvSpPr/>
          <p:nvPr/>
        </p:nvSpPr>
        <p:spPr>
          <a:xfrm>
            <a:off x="6519672" y="4572000"/>
            <a:ext cx="4821631" cy="1298448"/>
          </a:xfrm>
          <a:prstGeom prst="rect">
            <a:avLst/>
          </a:prstGeom>
          <a:noFill/>
          <a:ln/>
        </p:spPr>
        <p:txBody>
          <a:bodyPr wrap="square" lIns="0" tIns="0" rIns="0" bIns="0" rtlCol="0" anchor="ctr"/>
          <a:lstStyle/>
          <a:p>
            <a:pPr marL="342900" indent="-342900">
              <a:lnSpc>
                <a:spcPts val="1400"/>
              </a:lnSpc>
              <a:spcAft>
                <a:spcPts val="400"/>
              </a:spcAft>
              <a:buSzPct val="100000"/>
              <a:buChar char="•"/>
            </a:pPr>
            <a:r>
              <a:rPr lang="en-US" sz="1050" dirty="0">
                <a:solidFill>
                  <a:srgbClr val="3D423C"/>
                </a:solidFill>
                <a:latin typeface="Calibri" pitchFamily="34" charset="0"/>
                <a:ea typeface="Calibri" pitchFamily="34" charset="-122"/>
                <a:cs typeface="Calibri" pitchFamily="34" charset="-120"/>
              </a:rPr>
              <a:t>The admissions-risk question — walk in with a recommendation and its guardrails, not the open question.</a:t>
            </a:r>
            <a:endParaRPr lang="en-US" sz="1050" dirty="0"/>
          </a:p>
          <a:p>
            <a:pPr indent="0" marL="0">
              <a:lnSpc>
                <a:spcPts val="1400"/>
              </a:lnSpc>
              <a:spcAft>
                <a:spcPts val="400"/>
              </a:spcAft>
              <a:buNone/>
            </a:pPr>
            <a:r>
              <a:rPr lang="en-US" sz="1050" dirty="0">
                <a:solidFill>
                  <a:srgbClr val="3D423C"/>
                </a:solidFill>
                <a:latin typeface="Calibri" pitchFamily="34" charset="0"/>
                <a:ea typeface="Calibri" pitchFamily="34" charset="-122"/>
                <a:cs typeface="Calibri" pitchFamily="34" charset="-120"/>
              </a:rPr>
              <a:t>The star rating section — a 4-star target with nothing under it is the weakest paragraph in a strong plan.</a:t>
            </a:r>
            <a:endParaRPr lang="en-US" sz="1050" dirty="0"/>
          </a:p>
          <a:p>
            <a:pPr indent="0" marL="0">
              <a:lnSpc>
                <a:spcPts val="1400"/>
              </a:lnSpc>
              <a:spcAft>
                <a:spcPts val="400"/>
              </a:spcAft>
              <a:buNone/>
            </a:pPr>
            <a:r>
              <a:rPr lang="en-US" sz="1050" dirty="0">
                <a:solidFill>
                  <a:srgbClr val="3D423C"/>
                </a:solidFill>
                <a:latin typeface="Calibri" pitchFamily="34" charset="0"/>
                <a:ea typeface="Calibri" pitchFamily="34" charset="-122"/>
                <a:cs typeface="Calibri" pitchFamily="34" charset="-120"/>
              </a:rPr>
              <a:t>No expense control, no retention work, and resident experience is one line while you add 18 residents.</a:t>
            </a:r>
            <a:endParaRPr lang="en-US" sz="1050" dirty="0"/>
          </a:p>
          <a:p>
            <a:pPr indent="0" marL="0">
              <a:lnSpc>
                <a:spcPts val="1400"/>
              </a:lnSpc>
              <a:spcAft>
                <a:spcPts val="400"/>
              </a:spcAft>
              <a:buNone/>
            </a:pPr>
            <a:r>
              <a:rPr lang="en-US" sz="1050" dirty="0">
                <a:solidFill>
                  <a:srgbClr val="3D423C"/>
                </a:solidFill>
                <a:latin typeface="Calibri" pitchFamily="34" charset="0"/>
                <a:ea typeface="Calibri" pitchFamily="34" charset="-122"/>
                <a:cs typeface="Calibri" pitchFamily="34" charset="-120"/>
              </a:rPr>
              <a:t>The file is titled “Julia Teple.” Fix the spelling before it circulates.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1002975" cy="237744"/>
          </a:xfrm>
          <a:prstGeom prst="rect">
            <a:avLst/>
          </a:prstGeom>
          <a:noFill/>
          <a:ln/>
        </p:spPr>
        <p:txBody>
          <a:bodyPr wrap="square" lIns="0" tIns="0" rIns="0" bIns="0" rtlCol="0" anchor="ctr"/>
          <a:lstStyle/>
          <a:p>
            <a:pPr indent="0" marL="0">
              <a:buNone/>
            </a:pPr>
            <a:r>
              <a:rPr lang="en-US" sz="1100" b="1" spc="240" kern="0" dirty="0">
                <a:solidFill>
                  <a:srgbClr val="1F5B4E"/>
                </a:solidFill>
                <a:latin typeface="Calibri" pitchFamily="34" charset="0"/>
                <a:ea typeface="Calibri" pitchFamily="34" charset="-122"/>
                <a:cs typeface="Calibri" pitchFamily="34" charset="-120"/>
              </a:rPr>
              <a:t>OCTOBER</a:t>
            </a:r>
            <a:endParaRPr lang="en-US" sz="1100" dirty="0"/>
          </a:p>
        </p:txBody>
      </p:sp>
      <p:sp>
        <p:nvSpPr>
          <p:cNvPr id="3" name="Text 1"/>
          <p:cNvSpPr/>
          <p:nvPr/>
        </p:nvSpPr>
        <p:spPr>
          <a:xfrm>
            <a:off x="594360" y="658368"/>
            <a:ext cx="11002975" cy="566928"/>
          </a:xfrm>
          <a:prstGeom prst="rect">
            <a:avLst/>
          </a:prstGeom>
          <a:noFill/>
          <a:ln/>
        </p:spPr>
        <p:txBody>
          <a:bodyPr wrap="square" lIns="0" tIns="0" rIns="0" bIns="0" rtlCol="0" anchor="t"/>
          <a:lstStyle/>
          <a:p>
            <a:pPr indent="0" marL="0">
              <a:buNone/>
            </a:pPr>
            <a:r>
              <a:rPr lang="en-US" sz="3100" b="1" dirty="0">
                <a:solidFill>
                  <a:srgbClr val="1E211D"/>
                </a:solidFill>
                <a:latin typeface="Cambria" pitchFamily="34" charset="0"/>
                <a:ea typeface="Cambria" pitchFamily="34" charset="-122"/>
                <a:cs typeface="Cambria" pitchFamily="34" charset="-120"/>
              </a:rPr>
              <a:t>Building the system the fourth building inherits</a:t>
            </a:r>
            <a:endParaRPr lang="en-US" sz="3100" dirty="0"/>
          </a:p>
        </p:txBody>
      </p:sp>
      <p:sp>
        <p:nvSpPr>
          <p:cNvPr id="4" name="Text 2"/>
          <p:cNvSpPr/>
          <p:nvPr/>
        </p:nvSpPr>
        <p:spPr>
          <a:xfrm>
            <a:off x="594360" y="1325880"/>
            <a:ext cx="11002975" cy="475488"/>
          </a:xfrm>
          <a:prstGeom prst="rect">
            <a:avLst/>
          </a:prstGeom>
          <a:noFill/>
          <a:ln/>
        </p:spPr>
        <p:txBody>
          <a:bodyPr wrap="square" lIns="0" tIns="0" rIns="0" bIns="0" rtlCol="0" anchor="ctr"/>
          <a:lstStyle/>
          <a:p>
            <a:pPr indent="0" marL="0">
              <a:lnSpc>
                <a:spcPts val="1800"/>
              </a:lnSpc>
              <a:buNone/>
            </a:pPr>
            <a:r>
              <a:rPr lang="en-US" sz="1250" dirty="0">
                <a:solidFill>
                  <a:srgbClr val="3D423C"/>
                </a:solidFill>
                <a:latin typeface="Calibri" pitchFamily="34" charset="0"/>
                <a:ea typeface="Calibri" pitchFamily="34" charset="-122"/>
                <a:cs typeface="Calibri" pitchFamily="34" charset="-120"/>
              </a:rPr>
              <a:t>Standardize now, not at the end of the 100 days. Everything decided as a cluster standard is something the fourth administrator receives complete instead of rebuilding in their first month.</a:t>
            </a:r>
            <a:endParaRPr lang="en-US" sz="1250" dirty="0"/>
          </a:p>
        </p:txBody>
      </p:sp>
      <p:sp>
        <p:nvSpPr>
          <p:cNvPr id="5" name="Shape 3"/>
          <p:cNvSpPr/>
          <p:nvPr/>
        </p:nvSpPr>
        <p:spPr>
          <a:xfrm>
            <a:off x="594360" y="1828800"/>
            <a:ext cx="11002975" cy="1371600"/>
          </a:xfrm>
          <a:prstGeom prst="roundRect">
            <a:avLst>
              <a:gd name="adj" fmla="val 4000"/>
            </a:avLst>
          </a:prstGeom>
          <a:solidFill>
            <a:srgbClr val="EEF1EF"/>
          </a:solidFill>
          <a:ln w="12700">
            <a:solidFill>
              <a:srgbClr val="EEF1EF"/>
            </a:solidFill>
            <a:prstDash val="solid"/>
          </a:ln>
        </p:spPr>
      </p:sp>
      <p:sp>
        <p:nvSpPr>
          <p:cNvPr id="6" name="Text 4"/>
          <p:cNvSpPr/>
          <p:nvPr/>
        </p:nvSpPr>
        <p:spPr>
          <a:xfrm>
            <a:off x="941832" y="2011680"/>
            <a:ext cx="10308031" cy="219456"/>
          </a:xfrm>
          <a:prstGeom prst="rect">
            <a:avLst/>
          </a:prstGeom>
          <a:noFill/>
          <a:ln/>
        </p:spPr>
        <p:txBody>
          <a:bodyPr wrap="square" lIns="0" tIns="0" rIns="0" bIns="0" rtlCol="0" anchor="ctr"/>
          <a:lstStyle/>
          <a:p>
            <a:pPr indent="0" marL="0">
              <a:buNone/>
            </a:pPr>
            <a:r>
              <a:rPr lang="en-US" sz="1000" b="1" spc="220" kern="0" dirty="0">
                <a:solidFill>
                  <a:srgbClr val="1F5B4E"/>
                </a:solidFill>
                <a:latin typeface="Calibri" pitchFamily="34" charset="0"/>
                <a:ea typeface="Calibri" pitchFamily="34" charset="-122"/>
                <a:cs typeface="Calibri" pitchFamily="34" charset="-120"/>
              </a:rPr>
              <a:t>HAND OVER READY</a:t>
            </a:r>
            <a:endParaRPr lang="en-US" sz="1000" dirty="0"/>
          </a:p>
        </p:txBody>
      </p:sp>
      <p:sp>
        <p:nvSpPr>
          <p:cNvPr id="7" name="Shape 5"/>
          <p:cNvSpPr/>
          <p:nvPr/>
        </p:nvSpPr>
        <p:spPr>
          <a:xfrm>
            <a:off x="941832" y="2322576"/>
            <a:ext cx="1988454" cy="713232"/>
          </a:xfrm>
          <a:prstGeom prst="roundRect">
            <a:avLst>
              <a:gd name="adj" fmla="val 6410"/>
            </a:avLst>
          </a:prstGeom>
          <a:solidFill>
            <a:srgbClr val="FFFFFF"/>
          </a:solidFill>
          <a:ln w="12700">
            <a:solidFill>
              <a:srgbClr val="333333"/>
            </a:solidFill>
            <a:prstDash val="solid"/>
          </a:ln>
        </p:spPr>
      </p:sp>
      <p:sp>
        <p:nvSpPr>
          <p:cNvPr id="8" name="Text 6"/>
          <p:cNvSpPr/>
          <p:nvPr/>
        </p:nvSpPr>
        <p:spPr>
          <a:xfrm>
            <a:off x="1051560" y="2377440"/>
            <a:ext cx="1768998" cy="603504"/>
          </a:xfrm>
          <a:prstGeom prst="rect">
            <a:avLst/>
          </a:prstGeom>
          <a:noFill/>
          <a:ln/>
        </p:spPr>
        <p:txBody>
          <a:bodyPr wrap="square" lIns="0" tIns="0" rIns="0" bIns="0" rtlCol="0" anchor="ctr"/>
          <a:lstStyle/>
          <a:p>
            <a:pPr algn="ctr" indent="0" marL="0">
              <a:lnSpc>
                <a:spcPts val="1400"/>
              </a:lnSpc>
              <a:buNone/>
            </a:pPr>
            <a:r>
              <a:rPr lang="en-US" sz="1050" b="1" dirty="0">
                <a:solidFill>
                  <a:srgbClr val="1E211D"/>
                </a:solidFill>
                <a:latin typeface="Calibri" pitchFamily="34" charset="0"/>
                <a:ea typeface="Calibri" pitchFamily="34" charset="-122"/>
                <a:cs typeface="Calibri" pitchFamily="34" charset="-120"/>
              </a:rPr>
              <a:t>The Welcome Standard</a:t>
            </a:r>
            <a:endParaRPr lang="en-US" sz="1050" dirty="0"/>
          </a:p>
        </p:txBody>
      </p:sp>
      <p:sp>
        <p:nvSpPr>
          <p:cNvPr id="9" name="Shape 7"/>
          <p:cNvSpPr/>
          <p:nvPr/>
        </p:nvSpPr>
        <p:spPr>
          <a:xfrm>
            <a:off x="3021726" y="2322576"/>
            <a:ext cx="1988454" cy="713232"/>
          </a:xfrm>
          <a:prstGeom prst="roundRect">
            <a:avLst>
              <a:gd name="adj" fmla="val 6410"/>
            </a:avLst>
          </a:prstGeom>
          <a:solidFill>
            <a:srgbClr val="FFFFFF"/>
          </a:solidFill>
          <a:ln w="12700">
            <a:solidFill>
              <a:srgbClr val="333333"/>
            </a:solidFill>
            <a:prstDash val="solid"/>
          </a:ln>
        </p:spPr>
      </p:sp>
      <p:sp>
        <p:nvSpPr>
          <p:cNvPr id="10" name="Text 8"/>
          <p:cNvSpPr/>
          <p:nvPr/>
        </p:nvSpPr>
        <p:spPr>
          <a:xfrm>
            <a:off x="3131454" y="2377440"/>
            <a:ext cx="1768998" cy="603504"/>
          </a:xfrm>
          <a:prstGeom prst="rect">
            <a:avLst/>
          </a:prstGeom>
          <a:noFill/>
          <a:ln/>
        </p:spPr>
        <p:txBody>
          <a:bodyPr wrap="square" lIns="0" tIns="0" rIns="0" bIns="0" rtlCol="0" anchor="ctr"/>
          <a:lstStyle/>
          <a:p>
            <a:pPr algn="ctr" indent="0" marL="0">
              <a:lnSpc>
                <a:spcPts val="1400"/>
              </a:lnSpc>
              <a:buNone/>
            </a:pPr>
            <a:r>
              <a:rPr lang="en-US" sz="1050" b="1" dirty="0">
                <a:solidFill>
                  <a:srgbClr val="1E211D"/>
                </a:solidFill>
                <a:latin typeface="Calibri" pitchFamily="34" charset="0"/>
                <a:ea typeface="Calibri" pitchFamily="34" charset="-122"/>
                <a:cs typeface="Calibri" pitchFamily="34" charset="-120"/>
              </a:rPr>
              <a:t>Weekly A/R agenda + account discipline</a:t>
            </a:r>
            <a:endParaRPr lang="en-US" sz="1050" dirty="0"/>
          </a:p>
        </p:txBody>
      </p:sp>
      <p:sp>
        <p:nvSpPr>
          <p:cNvPr id="11" name="Shape 9"/>
          <p:cNvSpPr/>
          <p:nvPr/>
        </p:nvSpPr>
        <p:spPr>
          <a:xfrm>
            <a:off x="5101620" y="2322576"/>
            <a:ext cx="1988454" cy="713232"/>
          </a:xfrm>
          <a:prstGeom prst="roundRect">
            <a:avLst>
              <a:gd name="adj" fmla="val 6410"/>
            </a:avLst>
          </a:prstGeom>
          <a:solidFill>
            <a:srgbClr val="FFFFFF"/>
          </a:solidFill>
          <a:ln w="12700">
            <a:solidFill>
              <a:srgbClr val="333333"/>
            </a:solidFill>
            <a:prstDash val="solid"/>
          </a:ln>
        </p:spPr>
      </p:sp>
      <p:sp>
        <p:nvSpPr>
          <p:cNvPr id="12" name="Text 10"/>
          <p:cNvSpPr/>
          <p:nvPr/>
        </p:nvSpPr>
        <p:spPr>
          <a:xfrm>
            <a:off x="5211348" y="2377440"/>
            <a:ext cx="1768998" cy="603504"/>
          </a:xfrm>
          <a:prstGeom prst="rect">
            <a:avLst/>
          </a:prstGeom>
          <a:noFill/>
          <a:ln/>
        </p:spPr>
        <p:txBody>
          <a:bodyPr wrap="square" lIns="0" tIns="0" rIns="0" bIns="0" rtlCol="0" anchor="ctr"/>
          <a:lstStyle/>
          <a:p>
            <a:pPr algn="ctr" indent="0" marL="0">
              <a:lnSpc>
                <a:spcPts val="1400"/>
              </a:lnSpc>
              <a:buNone/>
            </a:pPr>
            <a:r>
              <a:rPr lang="en-US" sz="1050" b="1" dirty="0">
                <a:solidFill>
                  <a:srgbClr val="1E211D"/>
                </a:solidFill>
                <a:latin typeface="Calibri" pitchFamily="34" charset="0"/>
                <a:ea typeface="Calibri" pitchFamily="34" charset="-122"/>
                <a:cs typeface="Calibri" pitchFamily="34" charset="-120"/>
              </a:rPr>
              <a:t>The metric dictionary</a:t>
            </a:r>
            <a:endParaRPr lang="en-US" sz="1050" dirty="0"/>
          </a:p>
        </p:txBody>
      </p:sp>
      <p:sp>
        <p:nvSpPr>
          <p:cNvPr id="13" name="Shape 11"/>
          <p:cNvSpPr/>
          <p:nvPr/>
        </p:nvSpPr>
        <p:spPr>
          <a:xfrm>
            <a:off x="7181515" y="2322576"/>
            <a:ext cx="1988454" cy="713232"/>
          </a:xfrm>
          <a:prstGeom prst="roundRect">
            <a:avLst>
              <a:gd name="adj" fmla="val 6410"/>
            </a:avLst>
          </a:prstGeom>
          <a:solidFill>
            <a:srgbClr val="FFFFFF"/>
          </a:solidFill>
          <a:ln w="12700">
            <a:solidFill>
              <a:srgbClr val="333333"/>
            </a:solidFill>
            <a:prstDash val="solid"/>
          </a:ln>
        </p:spPr>
      </p:sp>
      <p:sp>
        <p:nvSpPr>
          <p:cNvPr id="14" name="Text 12"/>
          <p:cNvSpPr/>
          <p:nvPr/>
        </p:nvSpPr>
        <p:spPr>
          <a:xfrm>
            <a:off x="7291243" y="2377440"/>
            <a:ext cx="1768998" cy="603504"/>
          </a:xfrm>
          <a:prstGeom prst="rect">
            <a:avLst/>
          </a:prstGeom>
          <a:noFill/>
          <a:ln/>
        </p:spPr>
        <p:txBody>
          <a:bodyPr wrap="square" lIns="0" tIns="0" rIns="0" bIns="0" rtlCol="0" anchor="ctr"/>
          <a:lstStyle/>
          <a:p>
            <a:pPr algn="ctr" indent="0" marL="0">
              <a:lnSpc>
                <a:spcPts val="1400"/>
              </a:lnSpc>
              <a:buNone/>
            </a:pPr>
            <a:r>
              <a:rPr lang="en-US" sz="1050" b="1" dirty="0">
                <a:solidFill>
                  <a:srgbClr val="1E211D"/>
                </a:solidFill>
                <a:latin typeface="Calibri" pitchFamily="34" charset="0"/>
                <a:ea typeface="Calibri" pitchFamily="34" charset="-122"/>
                <a:cs typeface="Calibri" pitchFamily="34" charset="-120"/>
              </a:rPr>
              <a:t>Shared recruiting pipeline + PRN float list</a:t>
            </a:r>
            <a:endParaRPr lang="en-US" sz="1050" dirty="0"/>
          </a:p>
        </p:txBody>
      </p:sp>
      <p:sp>
        <p:nvSpPr>
          <p:cNvPr id="15" name="Shape 13"/>
          <p:cNvSpPr/>
          <p:nvPr/>
        </p:nvSpPr>
        <p:spPr>
          <a:xfrm>
            <a:off x="9261409" y="2322576"/>
            <a:ext cx="1988454" cy="713232"/>
          </a:xfrm>
          <a:prstGeom prst="roundRect">
            <a:avLst>
              <a:gd name="adj" fmla="val 6410"/>
            </a:avLst>
          </a:prstGeom>
          <a:solidFill>
            <a:srgbClr val="FFFFFF"/>
          </a:solidFill>
          <a:ln w="12700">
            <a:solidFill>
              <a:srgbClr val="333333"/>
            </a:solidFill>
            <a:prstDash val="solid"/>
          </a:ln>
        </p:spPr>
      </p:sp>
      <p:sp>
        <p:nvSpPr>
          <p:cNvPr id="16" name="Text 14"/>
          <p:cNvSpPr/>
          <p:nvPr/>
        </p:nvSpPr>
        <p:spPr>
          <a:xfrm>
            <a:off x="9371137" y="2377440"/>
            <a:ext cx="1768998" cy="603504"/>
          </a:xfrm>
          <a:prstGeom prst="rect">
            <a:avLst/>
          </a:prstGeom>
          <a:noFill/>
          <a:ln/>
        </p:spPr>
        <p:txBody>
          <a:bodyPr wrap="square" lIns="0" tIns="0" rIns="0" bIns="0" rtlCol="0" anchor="ctr"/>
          <a:lstStyle/>
          <a:p>
            <a:pPr algn="ctr" indent="0" marL="0">
              <a:lnSpc>
                <a:spcPts val="1400"/>
              </a:lnSpc>
              <a:buNone/>
            </a:pPr>
            <a:r>
              <a:rPr lang="en-US" sz="1050" b="1" dirty="0">
                <a:solidFill>
                  <a:srgbClr val="1E211D"/>
                </a:solidFill>
                <a:latin typeface="Calibri" pitchFamily="34" charset="0"/>
                <a:ea typeface="Calibri" pitchFamily="34" charset="-122"/>
                <a:cs typeface="Calibri" pitchFamily="34" charset="-120"/>
              </a:rPr>
              <a:t>One tracker format</a:t>
            </a:r>
            <a:endParaRPr lang="en-US" sz="1050" dirty="0"/>
          </a:p>
        </p:txBody>
      </p:sp>
      <p:sp>
        <p:nvSpPr>
          <p:cNvPr id="17" name="Shape 15"/>
          <p:cNvSpPr/>
          <p:nvPr/>
        </p:nvSpPr>
        <p:spPr>
          <a:xfrm>
            <a:off x="594360" y="3401568"/>
            <a:ext cx="5364328" cy="2286000"/>
          </a:xfrm>
          <a:prstGeom prst="roundRect">
            <a:avLst>
              <a:gd name="adj" fmla="val 2400"/>
            </a:avLst>
          </a:prstGeom>
          <a:solidFill>
            <a:srgbClr val="F7EBE3"/>
          </a:solidFill>
          <a:ln w="12700">
            <a:solidFill>
              <a:srgbClr val="F7EBE3"/>
            </a:solidFill>
            <a:prstDash val="solid"/>
          </a:ln>
        </p:spPr>
      </p:sp>
      <p:sp>
        <p:nvSpPr>
          <p:cNvPr id="18" name="Text 16"/>
          <p:cNvSpPr/>
          <p:nvPr/>
        </p:nvSpPr>
        <p:spPr>
          <a:xfrm>
            <a:off x="868680" y="3602736"/>
            <a:ext cx="4815688" cy="237744"/>
          </a:xfrm>
          <a:prstGeom prst="rect">
            <a:avLst/>
          </a:prstGeom>
          <a:noFill/>
          <a:ln/>
        </p:spPr>
        <p:txBody>
          <a:bodyPr wrap="square" lIns="0" tIns="0" rIns="0" bIns="0" rtlCol="0" anchor="ctr"/>
          <a:lstStyle/>
          <a:p>
            <a:pPr indent="0" marL="0">
              <a:buNone/>
            </a:pPr>
            <a:r>
              <a:rPr lang="en-US" sz="1000" b="1" spc="160" kern="0" dirty="0">
                <a:solidFill>
                  <a:srgbClr val="A84A22"/>
                </a:solidFill>
                <a:latin typeface="Calibri" pitchFamily="34" charset="0"/>
                <a:ea typeface="Calibri" pitchFamily="34" charset="-122"/>
                <a:cs typeface="Calibri" pitchFamily="34" charset="-120"/>
              </a:rPr>
              <a:t>NAME THE COVERAGE NOW</a:t>
            </a:r>
            <a:endParaRPr lang="en-US" sz="1000" dirty="0"/>
          </a:p>
        </p:txBody>
      </p:sp>
      <p:sp>
        <p:nvSpPr>
          <p:cNvPr id="19" name="Text 17"/>
          <p:cNvSpPr/>
          <p:nvPr/>
        </p:nvSpPr>
        <p:spPr>
          <a:xfrm>
            <a:off x="868680" y="3895344"/>
            <a:ext cx="4815688" cy="1554480"/>
          </a:xfrm>
          <a:prstGeom prst="rect">
            <a:avLst/>
          </a:prstGeom>
          <a:noFill/>
          <a:ln/>
        </p:spPr>
        <p:txBody>
          <a:bodyPr wrap="square" lIns="0" tIns="0" rIns="0" bIns="0" rtlCol="0" anchor="ctr"/>
          <a:lstStyle/>
          <a:p>
            <a:pPr indent="0" marL="0">
              <a:lnSpc>
                <a:spcPts val="1700"/>
              </a:lnSpc>
              <a:buNone/>
            </a:pPr>
            <a:r>
              <a:rPr lang="en-US" sz="1200" dirty="0">
                <a:solidFill>
                  <a:srgbClr val="3D423C"/>
                </a:solidFill>
                <a:latin typeface="Calibri" pitchFamily="34" charset="0"/>
                <a:ea typeface="Calibri" pitchFamily="34" charset="-122"/>
                <a:cs typeface="Calibri" pitchFamily="34" charset="-120"/>
              </a:rPr>
              <a:t>All three plans assume full leadership attention through November. An October opening will pull attention, and probably people, out of these buildings at exactly the point where the census ladders and the hiring push are supposed to be delivering. Decide who backfills what before it happens.</a:t>
            </a:r>
            <a:endParaRPr lang="en-US" sz="1200" dirty="0"/>
          </a:p>
        </p:txBody>
      </p:sp>
      <p:sp>
        <p:nvSpPr>
          <p:cNvPr id="20" name="Shape 18"/>
          <p:cNvSpPr/>
          <p:nvPr/>
        </p:nvSpPr>
        <p:spPr>
          <a:xfrm>
            <a:off x="6233008" y="3401568"/>
            <a:ext cx="5364328" cy="2286000"/>
          </a:xfrm>
          <a:prstGeom prst="roundRect">
            <a:avLst>
              <a:gd name="adj" fmla="val 2400"/>
            </a:avLst>
          </a:prstGeom>
          <a:solidFill>
            <a:srgbClr val="F7EBE3"/>
          </a:solidFill>
          <a:ln w="12700">
            <a:solidFill>
              <a:srgbClr val="F7EBE3"/>
            </a:solidFill>
            <a:prstDash val="solid"/>
          </a:ln>
        </p:spPr>
      </p:sp>
      <p:sp>
        <p:nvSpPr>
          <p:cNvPr id="21" name="Text 19"/>
          <p:cNvSpPr/>
          <p:nvPr/>
        </p:nvSpPr>
        <p:spPr>
          <a:xfrm>
            <a:off x="6507328" y="3602736"/>
            <a:ext cx="4815688" cy="237744"/>
          </a:xfrm>
          <a:prstGeom prst="rect">
            <a:avLst/>
          </a:prstGeom>
          <a:noFill/>
          <a:ln/>
        </p:spPr>
        <p:txBody>
          <a:bodyPr wrap="square" lIns="0" tIns="0" rIns="0" bIns="0" rtlCol="0" anchor="ctr"/>
          <a:lstStyle/>
          <a:p>
            <a:pPr indent="0" marL="0">
              <a:buNone/>
            </a:pPr>
            <a:r>
              <a:rPr lang="en-US" sz="1000" b="1" spc="160" kern="0" dirty="0">
                <a:solidFill>
                  <a:srgbClr val="A84A22"/>
                </a:solidFill>
                <a:latin typeface="Calibri" pitchFamily="34" charset="0"/>
                <a:ea typeface="Calibri" pitchFamily="34" charset="-122"/>
                <a:cs typeface="Calibri" pitchFamily="34" charset="-120"/>
              </a:rPr>
              <a:t>WATCH OCTOBER SPECIFICALLY</a:t>
            </a:r>
            <a:endParaRPr lang="en-US" sz="1000" dirty="0"/>
          </a:p>
        </p:txBody>
      </p:sp>
      <p:sp>
        <p:nvSpPr>
          <p:cNvPr id="22" name="Text 20"/>
          <p:cNvSpPr/>
          <p:nvPr/>
        </p:nvSpPr>
        <p:spPr>
          <a:xfrm>
            <a:off x="6507328" y="3895344"/>
            <a:ext cx="4815688" cy="1554480"/>
          </a:xfrm>
          <a:prstGeom prst="rect">
            <a:avLst/>
          </a:prstGeom>
          <a:noFill/>
          <a:ln/>
        </p:spPr>
        <p:txBody>
          <a:bodyPr wrap="square" lIns="0" tIns="0" rIns="0" bIns="0" rtlCol="0" anchor="ctr"/>
          <a:lstStyle/>
          <a:p>
            <a:pPr indent="0" marL="0">
              <a:lnSpc>
                <a:spcPts val="1700"/>
              </a:lnSpc>
              <a:buNone/>
            </a:pPr>
            <a:r>
              <a:rPr lang="en-US" sz="1200" dirty="0">
                <a:solidFill>
                  <a:srgbClr val="3D423C"/>
                </a:solidFill>
                <a:latin typeface="Calibri" pitchFamily="34" charset="0"/>
                <a:ea typeface="Calibri" pitchFamily="34" charset="-122"/>
                <a:cs typeface="Calibri" pitchFamily="34" charset="-120"/>
              </a:rPr>
              <a:t>Julia Temple's steepest census jump lands in October — 112/21 to 118/24. EPAR's weekend admissions coverage is scheduled to start in October. Both commitments fall in the same month as the opening.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3D34"/>
        </a:solidFill>
      </p:bgPr>
    </p:bg>
    <p:spTree>
      <p:nvGrpSpPr>
        <p:cNvPr id="1" name=""/>
        <p:cNvGrpSpPr/>
        <p:nvPr/>
      </p:nvGrpSpPr>
      <p:grpSpPr>
        <a:xfrm>
          <a:off x="0" y="0"/>
          <a:ext cx="0" cy="0"/>
          <a:chOff x="0" y="0"/>
          <a:chExt cx="0" cy="0"/>
        </a:xfrm>
      </p:grpSpPr>
      <p:sp>
        <p:nvSpPr>
          <p:cNvPr id="2" name="Shape 0"/>
          <p:cNvSpPr/>
          <p:nvPr/>
        </p:nvSpPr>
        <p:spPr>
          <a:xfrm>
            <a:off x="-1463040" y="3291840"/>
            <a:ext cx="5120640" cy="5120640"/>
          </a:xfrm>
          <a:prstGeom prst="ellipse">
            <a:avLst/>
          </a:prstGeom>
          <a:solidFill>
            <a:srgbClr val="1F5B4E">
              <a:alpha val="45000"/>
            </a:srgbClr>
          </a:solidFill>
          <a:ln w="12700">
            <a:solidFill>
              <a:srgbClr val="333333"/>
            </a:solidFill>
            <a:prstDash val="solid"/>
          </a:ln>
        </p:spPr>
      </p:sp>
      <p:sp>
        <p:nvSpPr>
          <p:cNvPr id="3" name="Text 1"/>
          <p:cNvSpPr/>
          <p:nvPr/>
        </p:nvSpPr>
        <p:spPr>
          <a:xfrm>
            <a:off x="594360" y="1371600"/>
            <a:ext cx="7315200" cy="274320"/>
          </a:xfrm>
          <a:prstGeom prst="rect">
            <a:avLst/>
          </a:prstGeom>
          <a:noFill/>
          <a:ln/>
        </p:spPr>
        <p:txBody>
          <a:bodyPr wrap="square" lIns="0" tIns="0" rIns="0" bIns="0" rtlCol="0" anchor="ctr"/>
          <a:lstStyle/>
          <a:p>
            <a:pPr indent="0" marL="0">
              <a:buNone/>
            </a:pPr>
            <a:r>
              <a:rPr lang="en-US" sz="1200" b="1" spc="300" kern="0" dirty="0">
                <a:solidFill>
                  <a:srgbClr val="6BB9A2"/>
                </a:solidFill>
                <a:latin typeface="Calibri" pitchFamily="34" charset="0"/>
                <a:ea typeface="Calibri" pitchFamily="34" charset="-122"/>
                <a:cs typeface="Calibri" pitchFamily="34" charset="-120"/>
              </a:rPr>
              <a:t>WHAT WE LEAVE WITH</a:t>
            </a:r>
            <a:endParaRPr lang="en-US" sz="1200" dirty="0"/>
          </a:p>
        </p:txBody>
      </p:sp>
      <p:sp>
        <p:nvSpPr>
          <p:cNvPr id="4" name="Text 2"/>
          <p:cNvSpPr/>
          <p:nvPr/>
        </p:nvSpPr>
        <p:spPr>
          <a:xfrm>
            <a:off x="594360" y="1719072"/>
            <a:ext cx="10515600" cy="1371600"/>
          </a:xfrm>
          <a:prstGeom prst="rect">
            <a:avLst/>
          </a:prstGeom>
          <a:noFill/>
          <a:ln/>
        </p:spPr>
        <p:txBody>
          <a:bodyPr wrap="square" lIns="0" tIns="0" rIns="0" bIns="0"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Four decisions, one tracker,</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and a system October inherits</a:t>
            </a:r>
            <a:endParaRPr lang="en-US" sz="3400" dirty="0"/>
          </a:p>
        </p:txBody>
      </p:sp>
      <p:sp>
        <p:nvSpPr>
          <p:cNvPr id="5" name="Shape 3"/>
          <p:cNvSpPr/>
          <p:nvPr/>
        </p:nvSpPr>
        <p:spPr>
          <a:xfrm>
            <a:off x="594360" y="3401568"/>
            <a:ext cx="2647874" cy="1874520"/>
          </a:xfrm>
          <a:prstGeom prst="roundRect">
            <a:avLst>
              <a:gd name="adj" fmla="val 2927"/>
            </a:avLst>
          </a:prstGeom>
          <a:solidFill>
            <a:srgbClr val="1F5B4E"/>
          </a:solidFill>
          <a:ln w="12700">
            <a:solidFill>
              <a:srgbClr val="333333"/>
            </a:solidFill>
            <a:prstDash val="solid"/>
          </a:ln>
        </p:spPr>
      </p:sp>
      <p:sp>
        <p:nvSpPr>
          <p:cNvPr id="6" name="Text 4"/>
          <p:cNvSpPr/>
          <p:nvPr/>
        </p:nvSpPr>
        <p:spPr>
          <a:xfrm>
            <a:off x="832104" y="3621024"/>
            <a:ext cx="347472" cy="347472"/>
          </a:xfrm>
          <a:prstGeom prst="ellipse">
            <a:avLst/>
          </a:prstGeom>
          <a:solidFill>
            <a:srgbClr val="6BB9A2"/>
          </a:solidFill>
          <a:ln/>
        </p:spPr>
        <p:txBody>
          <a:bodyPr wrap="square" lIns="0" tIns="0" rIns="0" bIns="0" rtlCol="0" anchor="ctr"/>
          <a:lstStyle/>
          <a:p>
            <a:pPr algn="ctr" indent="0" marL="0">
              <a:buNone/>
            </a:pPr>
            <a:r>
              <a:rPr lang="en-US" sz="1200" b="1" dirty="0">
                <a:solidFill>
                  <a:srgbClr val="143D34"/>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832104" y="4078224"/>
            <a:ext cx="2172386"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Metric dictionary</a:t>
            </a:r>
            <a:endParaRPr lang="en-US" sz="1300" dirty="0"/>
          </a:p>
        </p:txBody>
      </p:sp>
      <p:sp>
        <p:nvSpPr>
          <p:cNvPr id="8" name="Text 6"/>
          <p:cNvSpPr/>
          <p:nvPr/>
        </p:nvSpPr>
        <p:spPr>
          <a:xfrm>
            <a:off x="832104" y="4407408"/>
            <a:ext cx="2172386" cy="749808"/>
          </a:xfrm>
          <a:prstGeom prst="rect">
            <a:avLst/>
          </a:prstGeom>
          <a:noFill/>
          <a:ln/>
        </p:spPr>
        <p:txBody>
          <a:bodyPr wrap="square" lIns="0" tIns="0" rIns="0" bIns="0" rtlCol="0" anchor="ctr"/>
          <a:lstStyle/>
          <a:p>
            <a:pPr indent="0" marL="0">
              <a:lnSpc>
                <a:spcPts val="1400"/>
              </a:lnSpc>
              <a:buNone/>
            </a:pPr>
            <a:r>
              <a:rPr lang="en-US" sz="1050" dirty="0">
                <a:solidFill>
                  <a:srgbClr val="C9D6D0"/>
                </a:solidFill>
                <a:latin typeface="Calibri" pitchFamily="34" charset="0"/>
                <a:ea typeface="Calibri" pitchFamily="34" charset="-122"/>
                <a:cs typeface="Calibri" pitchFamily="34" charset="-120"/>
              </a:rPr>
              <a:t>Census, bad debt, agency, overtime and turnover defined the same way in all three buildings.</a:t>
            </a:r>
            <a:endParaRPr lang="en-US" sz="1050" dirty="0"/>
          </a:p>
        </p:txBody>
      </p:sp>
      <p:sp>
        <p:nvSpPr>
          <p:cNvPr id="9" name="Shape 7"/>
          <p:cNvSpPr/>
          <p:nvPr/>
        </p:nvSpPr>
        <p:spPr>
          <a:xfrm>
            <a:off x="3379394" y="3401568"/>
            <a:ext cx="2647874" cy="1874520"/>
          </a:xfrm>
          <a:prstGeom prst="roundRect">
            <a:avLst>
              <a:gd name="adj" fmla="val 2927"/>
            </a:avLst>
          </a:prstGeom>
          <a:solidFill>
            <a:srgbClr val="1F5B4E"/>
          </a:solidFill>
          <a:ln w="12700">
            <a:solidFill>
              <a:srgbClr val="333333"/>
            </a:solidFill>
            <a:prstDash val="solid"/>
          </a:ln>
        </p:spPr>
      </p:sp>
      <p:sp>
        <p:nvSpPr>
          <p:cNvPr id="10" name="Text 8"/>
          <p:cNvSpPr/>
          <p:nvPr/>
        </p:nvSpPr>
        <p:spPr>
          <a:xfrm>
            <a:off x="3617138" y="3621024"/>
            <a:ext cx="347472" cy="347472"/>
          </a:xfrm>
          <a:prstGeom prst="ellipse">
            <a:avLst/>
          </a:prstGeom>
          <a:solidFill>
            <a:srgbClr val="6BB9A2"/>
          </a:solidFill>
          <a:ln/>
        </p:spPr>
        <p:txBody>
          <a:bodyPr wrap="square" lIns="0" tIns="0" rIns="0" bIns="0" rtlCol="0" anchor="ctr"/>
          <a:lstStyle/>
          <a:p>
            <a:pPr algn="ctr" indent="0" marL="0">
              <a:buNone/>
            </a:pPr>
            <a:r>
              <a:rPr lang="en-US" sz="1200" b="1" dirty="0">
                <a:solidFill>
                  <a:srgbClr val="143D34"/>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3617138" y="4078224"/>
            <a:ext cx="2172386"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Welcome Standard</a:t>
            </a:r>
            <a:endParaRPr lang="en-US" sz="1300" dirty="0"/>
          </a:p>
        </p:txBody>
      </p:sp>
      <p:sp>
        <p:nvSpPr>
          <p:cNvPr id="12" name="Text 10"/>
          <p:cNvSpPr/>
          <p:nvPr/>
        </p:nvSpPr>
        <p:spPr>
          <a:xfrm>
            <a:off x="3617138" y="4407408"/>
            <a:ext cx="2172386" cy="749808"/>
          </a:xfrm>
          <a:prstGeom prst="rect">
            <a:avLst/>
          </a:prstGeom>
          <a:noFill/>
          <a:ln/>
        </p:spPr>
        <p:txBody>
          <a:bodyPr wrap="square" lIns="0" tIns="0" rIns="0" bIns="0" rtlCol="0" anchor="ctr"/>
          <a:lstStyle/>
          <a:p>
            <a:pPr indent="0" marL="0">
              <a:lnSpc>
                <a:spcPts val="1400"/>
              </a:lnSpc>
              <a:buNone/>
            </a:pPr>
            <a:r>
              <a:rPr lang="en-US" sz="1050" dirty="0">
                <a:solidFill>
                  <a:srgbClr val="C9D6D0"/>
                </a:solidFill>
                <a:latin typeface="Calibri" pitchFamily="34" charset="0"/>
                <a:ea typeface="Calibri" pitchFamily="34" charset="-122"/>
                <a:cs typeface="Calibri" pitchFamily="34" charset="-120"/>
              </a:rPr>
              <a:t>EPAR drafts it. Bought at cluster volume. Delivered to the October building complete.</a:t>
            </a:r>
            <a:endParaRPr lang="en-US" sz="1050" dirty="0"/>
          </a:p>
        </p:txBody>
      </p:sp>
      <p:sp>
        <p:nvSpPr>
          <p:cNvPr id="13" name="Shape 11"/>
          <p:cNvSpPr/>
          <p:nvPr/>
        </p:nvSpPr>
        <p:spPr>
          <a:xfrm>
            <a:off x="6164428" y="3401568"/>
            <a:ext cx="2647874" cy="1874520"/>
          </a:xfrm>
          <a:prstGeom prst="roundRect">
            <a:avLst>
              <a:gd name="adj" fmla="val 2927"/>
            </a:avLst>
          </a:prstGeom>
          <a:solidFill>
            <a:srgbClr val="1F5B4E"/>
          </a:solidFill>
          <a:ln w="12700">
            <a:solidFill>
              <a:srgbClr val="333333"/>
            </a:solidFill>
            <a:prstDash val="solid"/>
          </a:ln>
        </p:spPr>
      </p:sp>
      <p:sp>
        <p:nvSpPr>
          <p:cNvPr id="14" name="Text 12"/>
          <p:cNvSpPr/>
          <p:nvPr/>
        </p:nvSpPr>
        <p:spPr>
          <a:xfrm>
            <a:off x="6402172" y="3621024"/>
            <a:ext cx="347472" cy="347472"/>
          </a:xfrm>
          <a:prstGeom prst="ellipse">
            <a:avLst/>
          </a:prstGeom>
          <a:solidFill>
            <a:srgbClr val="6BB9A2"/>
          </a:solidFill>
          <a:ln/>
        </p:spPr>
        <p:txBody>
          <a:bodyPr wrap="square" lIns="0" tIns="0" rIns="0" bIns="0" rtlCol="0" anchor="ctr"/>
          <a:lstStyle/>
          <a:p>
            <a:pPr algn="ctr" indent="0" marL="0">
              <a:buNone/>
            </a:pPr>
            <a:r>
              <a:rPr lang="en-US" sz="1200" b="1" dirty="0">
                <a:solidFill>
                  <a:srgbClr val="143D34"/>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6402172" y="4078224"/>
            <a:ext cx="2172386"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recruiting push</a:t>
            </a:r>
            <a:endParaRPr lang="en-US" sz="1300" dirty="0"/>
          </a:p>
        </p:txBody>
      </p:sp>
      <p:sp>
        <p:nvSpPr>
          <p:cNvPr id="16" name="Text 14"/>
          <p:cNvSpPr/>
          <p:nvPr/>
        </p:nvSpPr>
        <p:spPr>
          <a:xfrm>
            <a:off x="6402172" y="4407408"/>
            <a:ext cx="2172386" cy="749808"/>
          </a:xfrm>
          <a:prstGeom prst="rect">
            <a:avLst/>
          </a:prstGeom>
          <a:noFill/>
          <a:ln/>
        </p:spPr>
        <p:txBody>
          <a:bodyPr wrap="square" lIns="0" tIns="0" rIns="0" bIns="0" rtlCol="0" anchor="ctr"/>
          <a:lstStyle/>
          <a:p>
            <a:pPr indent="0" marL="0">
              <a:lnSpc>
                <a:spcPts val="1400"/>
              </a:lnSpc>
              <a:buNone/>
            </a:pPr>
            <a:r>
              <a:rPr lang="en-US" sz="1050" dirty="0">
                <a:solidFill>
                  <a:srgbClr val="C9D6D0"/>
                </a:solidFill>
                <a:latin typeface="Calibri" pitchFamily="34" charset="0"/>
                <a:ea typeface="Calibri" pitchFamily="34" charset="-122"/>
                <a:cs typeface="Calibri" pitchFamily="34" charset="-120"/>
              </a:rPr>
              <a:t>Fourteen positions, one posting, one interview day, one shared PRN float list.</a:t>
            </a:r>
            <a:endParaRPr lang="en-US" sz="1050" dirty="0"/>
          </a:p>
        </p:txBody>
      </p:sp>
      <p:sp>
        <p:nvSpPr>
          <p:cNvPr id="17" name="Shape 15"/>
          <p:cNvSpPr/>
          <p:nvPr/>
        </p:nvSpPr>
        <p:spPr>
          <a:xfrm>
            <a:off x="8949461" y="3401568"/>
            <a:ext cx="2647874" cy="1874520"/>
          </a:xfrm>
          <a:prstGeom prst="roundRect">
            <a:avLst>
              <a:gd name="adj" fmla="val 2927"/>
            </a:avLst>
          </a:prstGeom>
          <a:solidFill>
            <a:srgbClr val="1F5B4E"/>
          </a:solidFill>
          <a:ln w="12700">
            <a:solidFill>
              <a:srgbClr val="333333"/>
            </a:solidFill>
            <a:prstDash val="solid"/>
          </a:ln>
        </p:spPr>
      </p:sp>
      <p:sp>
        <p:nvSpPr>
          <p:cNvPr id="18" name="Text 16"/>
          <p:cNvSpPr/>
          <p:nvPr/>
        </p:nvSpPr>
        <p:spPr>
          <a:xfrm>
            <a:off x="9187205" y="3621024"/>
            <a:ext cx="347472" cy="347472"/>
          </a:xfrm>
          <a:prstGeom prst="ellipse">
            <a:avLst/>
          </a:prstGeom>
          <a:solidFill>
            <a:srgbClr val="6BB9A2"/>
          </a:solidFill>
          <a:ln/>
        </p:spPr>
        <p:txBody>
          <a:bodyPr wrap="square" lIns="0" tIns="0" rIns="0" bIns="0" rtlCol="0" anchor="ctr"/>
          <a:lstStyle/>
          <a:p>
            <a:pPr algn="ctr" indent="0" marL="0">
              <a:buNone/>
            </a:pPr>
            <a:r>
              <a:rPr lang="en-US" sz="1200" b="1" dirty="0">
                <a:solidFill>
                  <a:srgbClr val="143D34"/>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9187205" y="4078224"/>
            <a:ext cx="2172386"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operating rhythm</a:t>
            </a:r>
            <a:endParaRPr lang="en-US" sz="1300" dirty="0"/>
          </a:p>
        </p:txBody>
      </p:sp>
      <p:sp>
        <p:nvSpPr>
          <p:cNvPr id="20" name="Text 18"/>
          <p:cNvSpPr/>
          <p:nvPr/>
        </p:nvSpPr>
        <p:spPr>
          <a:xfrm>
            <a:off x="9187205" y="4407408"/>
            <a:ext cx="2172386" cy="749808"/>
          </a:xfrm>
          <a:prstGeom prst="rect">
            <a:avLst/>
          </a:prstGeom>
          <a:noFill/>
          <a:ln/>
        </p:spPr>
        <p:txBody>
          <a:bodyPr wrap="square" lIns="0" tIns="0" rIns="0" bIns="0" rtlCol="0" anchor="ctr"/>
          <a:lstStyle/>
          <a:p>
            <a:pPr indent="0" marL="0">
              <a:lnSpc>
                <a:spcPts val="1400"/>
              </a:lnSpc>
              <a:buNone/>
            </a:pPr>
            <a:r>
              <a:rPr lang="en-US" sz="1050" dirty="0">
                <a:solidFill>
                  <a:srgbClr val="C9D6D0"/>
                </a:solidFill>
                <a:latin typeface="Calibri" pitchFamily="34" charset="0"/>
                <a:ea typeface="Calibri" pitchFamily="34" charset="-122"/>
                <a:cs typeface="Calibri" pitchFamily="34" charset="-120"/>
              </a:rPr>
              <a:t>Daily staffing huddle, weekly A/R, weekly decline review, monthly cluster roll-up.</a:t>
            </a:r>
            <a:endParaRPr lang="en-US" sz="1050" dirty="0"/>
          </a:p>
        </p:txBody>
      </p:sp>
      <p:sp>
        <p:nvSpPr>
          <p:cNvPr id="21" name="Text 19"/>
          <p:cNvSpPr/>
          <p:nvPr/>
        </p:nvSpPr>
        <p:spPr>
          <a:xfrm>
            <a:off x="594360" y="6053328"/>
            <a:ext cx="11002975" cy="365760"/>
          </a:xfrm>
          <a:prstGeom prst="rect">
            <a:avLst/>
          </a:prstGeom>
          <a:noFill/>
          <a:ln/>
        </p:spPr>
        <p:txBody>
          <a:bodyPr wrap="square" lIns="0" tIns="0" rIns="0" bIns="0" rtlCol="0" anchor="ctr"/>
          <a:lstStyle/>
          <a:p>
            <a:pPr indent="0" marL="0">
              <a:lnSpc>
                <a:spcPts val="1300"/>
              </a:lnSpc>
              <a:buNone/>
            </a:pPr>
            <a:r>
              <a:rPr lang="en-US" sz="950" dirty="0">
                <a:solidFill>
                  <a:srgbClr val="7E958C"/>
                </a:solidFill>
                <a:latin typeface="Calibri" pitchFamily="34" charset="0"/>
                <a:ea typeface="Calibri" pitchFamily="34" charset="-122"/>
                <a:cs typeface="Calibri" pitchFamily="34" charset="-120"/>
              </a:rPr>
              <a:t>Prepared from the three 100-day action plans as written. All figures are quoted from those documents; gaps noted are places a plan is silent, not judgments about a building's performance.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Plans, One Cluster</dc:title>
  <dc:subject>PptxGenJS Presentation</dc:subject>
  <dc:creator>South Denver Cluster</dc:creator>
  <cp:lastModifiedBy>South Denver Cluster</cp:lastModifiedBy>
  <cp:revision>1</cp:revision>
  <dcterms:created xsi:type="dcterms:W3CDTF">2026-08-19T12:30:01Z</dcterms:created>
  <dcterms:modified xsi:type="dcterms:W3CDTF">2026-08-19T12:30:01Z</dcterms:modified>
</cp:coreProperties>
</file>