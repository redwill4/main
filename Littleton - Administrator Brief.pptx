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5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23C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85</c:v>
                </c:pt>
                <c:pt idx="2">
                  <c:v>109</c:v>
                </c:pt>
                <c:pt idx="3">
                  <c:v>103</c:v>
                </c:pt>
                <c:pt idx="4">
                  <c:v>94</c:v>
                </c:pt>
                <c:pt idx="5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D423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 100%</c:v>
                </c:pt>
              </c:strCache>
            </c:strRef>
          </c:tx>
          <c:spPr>
            <a:solidFill>
              <a:srgbClr val="A84A22"/>
            </a:solidFill>
            <a:ln w="25400" cap="flat">
              <a:solidFill>
                <a:srgbClr val="A84A22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23C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84A22"/>
              </a:solidFill>
              <a:ln w="9525" cap="flat">
                <a:solidFill>
                  <a:srgbClr val="A84A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D423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60"/>
        </c:scaling>
        <c:delete val="0"/>
        <c:axPos val="l"/>
        <c:majorGridlines>
          <c:spPr>
            <a:ln w="6350" cap="flat">
              <a:solidFill>
                <a:srgbClr val="DD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4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EF1EF"/>
        </a:solidFill>
        <a:ln>
          <a:noFill/>
        </a:ln>
        <a:effectLst/>
      </c:spPr>
    </c:plotArea>
    <c:plotVisOnly val="1"/>
    <c:dispBlanksAs val="span"/>
  </c:chart>
  <c:spPr>
    <a:solidFill>
      <a:srgbClr val="EEF1E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agency number — it is the biggest single cost swing anywhere in the cluster, and framing it as a retention fix turns the culture work into financial strategy rather than morale spend. Then be direct about collections: the six-month average of 94% hides a range from 78% to 109%. Present the volatility as the problem you are solving. The three internal contradictions are quick fixes, but a reviewer will find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1F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Littleton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plan that treats people as the strategy rather than a line item.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11002975" cy="1060704"/>
          </a:xfrm>
          <a:prstGeom prst="roundRect">
            <a:avLst>
              <a:gd name="adj" fmla="val 5172"/>
            </a:avLst>
          </a:prstGeom>
          <a:solidFill>
            <a:srgbClr val="143D34"/>
          </a:solidFill>
          <a:ln w="12700">
            <a:solidFill>
              <a:srgbClr val="143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BB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" y="2011680"/>
            <a:ext cx="10234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“Agency from $17 per patient day to under $2. That is not a purchasing fix. It is a retention fix.”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5394960" cy="3127248"/>
          </a:xfrm>
          <a:prstGeom prst="roundRect">
            <a:avLst>
              <a:gd name="adj" fmla="val 1754"/>
            </a:avLst>
          </a:prstGeom>
          <a:solidFill>
            <a:srgbClr val="EEF1EF"/>
          </a:solidFill>
          <a:ln w="12700">
            <a:solidFill>
              <a:srgbClr val="EEF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980944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F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COLLECTIONS, % OF TARGET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0664" y="3255264"/>
          <a:ext cx="51023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832104" y="5431536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D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average 94%. Present the volatility, not the average — consistency is the goal.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63640" y="2834640"/>
            <a:ext cx="5333695" cy="1810512"/>
          </a:xfrm>
          <a:prstGeom prst="roundRect">
            <a:avLst>
              <a:gd name="adj" fmla="val 3030"/>
            </a:avLst>
          </a:prstGeom>
          <a:solidFill>
            <a:srgbClr val="F7EBE3"/>
          </a:solidFill>
          <a:ln w="12700">
            <a:solidFill>
              <a:srgbClr val="F7EB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9672" y="2980944"/>
            <a:ext cx="4821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8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BEFORE IT CIRCULATES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19672" y="3255264"/>
            <a:ext cx="482163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census reads 8+ in the narrative, 10+ in the metrics table.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3D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reads &lt;30% in the narrative, &lt;20% in the table.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3D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reads &lt;$2 WPPD in the narrative, &lt;$2,000/month in the table — different units.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3D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bad debt target, and no census baseline. You are the only building without a starting number.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4791456"/>
            <a:ext cx="5333695" cy="1170432"/>
          </a:xfrm>
          <a:prstGeom prst="roundRect">
            <a:avLst>
              <a:gd name="adj" fmla="val 4688"/>
            </a:avLst>
          </a:prstGeom>
          <a:solidFill>
            <a:srgbClr val="EEF1EF"/>
          </a:solidFill>
          <a:ln w="12700">
            <a:solidFill>
              <a:srgbClr val="EEF1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9672" y="4937760"/>
            <a:ext cx="4821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F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FOR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19672" y="5193792"/>
            <a:ext cx="482163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your onboarding and retention machinery as the cluster standard — then ask them to fund a shared recruiting push against your six open positions plus Julia Temple's eight.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Littleton — Administrator Brief</dc:title>
  <dc:subject>PptxGenJS Presentation</dc:subject>
  <dc:creator>South Denver Cluster</dc:creator>
  <cp:lastModifiedBy>South Denver Cluster</cp:lastModifiedBy>
  <cp:revision>1</cp:revision>
  <dcterms:created xsi:type="dcterms:W3CDTF">2026-08-19T12:43:19Z</dcterms:created>
  <dcterms:modified xsi:type="dcterms:W3CDTF">2026-08-19T12:43:19Z</dcterms:modified>
</cp:coreProperties>
</file>